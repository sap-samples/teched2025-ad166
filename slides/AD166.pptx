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410" r:id="rId5"/>
    <p:sldId id="415" r:id="rId6"/>
    <p:sldId id="412" r:id="rId7"/>
    <p:sldId id="416" r:id="rId8"/>
    <p:sldId id="417" r:id="rId9"/>
    <p:sldId id="419" r:id="rId10"/>
    <p:sldId id="2147483257" r:id="rId11"/>
    <p:sldId id="2147483255" r:id="rId12"/>
    <p:sldId id="2147483253" r:id="rId13"/>
    <p:sldId id="2147483252" r:id="rId14"/>
    <p:sldId id="260" r:id="rId15"/>
    <p:sldId id="214748325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42"/>
    <p:restoredTop sz="76434"/>
  </p:normalViewPr>
  <p:slideViewPr>
    <p:cSldViewPr snapToGrid="0">
      <p:cViewPr varScale="1">
        <p:scale>
          <a:sx n="93" d="100"/>
          <a:sy n="93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68" y="14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46FE7B3-AAD2-0397-245A-7D8DBE2C60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34B720-58AA-CB6E-2523-C0A17691A9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03226-73BB-1A4A-8F6C-F674E4CE70D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431F90-2C93-F239-8E47-075A8460A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17FFA4-5D76-6DB4-BF57-4F6015CE3B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17AF0-D420-254E-B537-858725EB64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098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E71F2-7CFF-4E65-BF44-B40C7DDFB951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5BC83-13A1-4B83-8023-87231E5AFF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03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5BC83-13A1-4B83-8023-87231E5AFFA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608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5BC83-13A1-4B83-8023-87231E5AFFA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644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[Click]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pPr marL="0" marR="0" lvl="0" indent="0" algn="ct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84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15079" y="1208309"/>
            <a:ext cx="6212340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Referentenname</a:t>
            </a:r>
          </a:p>
          <a:p>
            <a:pPr lvl="0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08833" y="151100"/>
            <a:ext cx="11142243" cy="1007559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010" y="1565943"/>
            <a:ext cx="6211409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Firma</a:t>
            </a:r>
          </a:p>
          <a:p>
            <a:pPr lvl="0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59D8CF3-E224-E9B9-265A-51C8C0C54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A6BEDAE-6225-70DF-5C1E-68C5E15C42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3103672"/>
            <a:ext cx="904876" cy="44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5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840">
          <p15:clr>
            <a:srgbClr val="FBAE40"/>
          </p15:clr>
        </p15:guide>
        <p15:guide id="8" orient="horz" pos="20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C14010-9D5D-93D2-AB81-880930406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Inhaltsverzeichnis</a:t>
            </a: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1514466"/>
            <a:ext cx="7312025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pic>
        <p:nvPicPr>
          <p:cNvPr id="16" name="Grafik 15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94316F23-B7F3-AA3F-CE00-A3543B5BB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AFAD78ED-0809-A658-6027-E68A98AF5524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C91ACE6-FF1C-E844-9E32-BB73F9282139}" type="slidenum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t>‹Nr.›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19. März 2026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50CAF4-D9B2-810F-1E85-C1796AA980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76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7" pos="39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FEBF229-D501-1C11-A2CB-6ADD75BA0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2079408"/>
            <a:ext cx="7402511" cy="825180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Kapitel</a:t>
            </a:r>
          </a:p>
        </p:txBody>
      </p:sp>
      <p:pic>
        <p:nvPicPr>
          <p:cNvPr id="4" name="Grafik 3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C4772628-E593-3E2B-A274-B0791F5520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5086C93-E5D3-2854-1F7B-90EFE17869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5B4C7BE4-F3E8-B99B-76D3-B56951D02AD0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C91ACE6-FF1C-E844-9E32-BB73F9282139}" type="slidenum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t>‹Nr.›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19. März 2026</a:t>
            </a:r>
          </a:p>
        </p:txBody>
      </p:sp>
    </p:spTree>
    <p:extLst>
      <p:ext uri="{BB962C8B-B14F-4D97-AF65-F5344CB8AC3E}">
        <p14:creationId xmlns:p14="http://schemas.microsoft.com/office/powerpoint/2010/main" val="4196858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8" orient="horz" pos="96">
          <p15:clr>
            <a:srgbClr val="FBAE40"/>
          </p15:clr>
        </p15:guide>
        <p15:guide id="10" pos="393">
          <p15:clr>
            <a:srgbClr val="FBAE40"/>
          </p15:clr>
        </p15:guide>
        <p15:guide id="12" orient="horz" pos="6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E9F679D-A551-B951-C21B-A253E9DB6569}"/>
              </a:ext>
            </a:extLst>
          </p:cNvPr>
          <p:cNvSpPr/>
          <p:nvPr userDrawn="1"/>
        </p:nvSpPr>
        <p:spPr>
          <a:xfrm>
            <a:off x="515939" y="6412375"/>
            <a:ext cx="1636952" cy="27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C3F4F4FA-F090-940B-0D26-63BD1F12F508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C91ACE6-FF1C-E844-9E32-BB73F9282139}" type="slidenum">
              <a:rPr lang="de-DE" sz="900" b="0" i="0" smtClean="0">
                <a:solidFill>
                  <a:srgbClr val="00475B"/>
                </a:solidFill>
                <a:latin typeface="+mn-lt"/>
                <a:cs typeface="Helvetica Light"/>
              </a:rPr>
              <a:t>‹Nr.›</a:t>
            </a:fld>
            <a:r>
              <a:rPr lang="de-DE" sz="900" b="0" i="0" dirty="0">
                <a:solidFill>
                  <a:srgbClr val="00475B"/>
                </a:solidFill>
                <a:latin typeface="+mn-lt"/>
                <a:cs typeface="Helvetica Light"/>
              </a:rPr>
              <a:t> | 19. März 2026</a:t>
            </a:r>
          </a:p>
        </p:txBody>
      </p:sp>
    </p:spTree>
    <p:extLst>
      <p:ext uri="{BB962C8B-B14F-4D97-AF65-F5344CB8AC3E}">
        <p14:creationId xmlns:p14="http://schemas.microsoft.com/office/powerpoint/2010/main" val="3082489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6425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1F5EA51-FAC0-D540-D8B9-6A121B9DF6C0}"/>
              </a:ext>
            </a:extLst>
          </p:cNvPr>
          <p:cNvSpPr/>
          <p:nvPr userDrawn="1"/>
        </p:nvSpPr>
        <p:spPr>
          <a:xfrm>
            <a:off x="515939" y="6412375"/>
            <a:ext cx="1590653" cy="27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3153003-BB6D-500C-9EB8-7AF7DC5B1064}"/>
              </a:ext>
            </a:extLst>
          </p:cNvPr>
          <p:cNvGrpSpPr/>
          <p:nvPr userDrawn="1"/>
        </p:nvGrpSpPr>
        <p:grpSpPr>
          <a:xfrm>
            <a:off x="515939" y="6361055"/>
            <a:ext cx="3348027" cy="390363"/>
            <a:chOff x="515939" y="6361055"/>
            <a:chExt cx="3348027" cy="39036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DE592405-11E8-9D7B-947C-CB13B27B6FD9}"/>
                </a:ext>
              </a:extLst>
            </p:cNvPr>
            <p:cNvSpPr/>
            <p:nvPr userDrawn="1"/>
          </p:nvSpPr>
          <p:spPr>
            <a:xfrm>
              <a:off x="515939" y="6412375"/>
              <a:ext cx="1636952" cy="277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ußzeilenplatzhalter 4">
              <a:extLst>
                <a:ext uri="{FF2B5EF4-FFF2-40B4-BE49-F238E27FC236}">
                  <a16:creationId xmlns:a16="http://schemas.microsoft.com/office/drawing/2014/main" id="{6EC073DF-96AB-482A-DECA-BB60E62F80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28749" y="6361055"/>
              <a:ext cx="3335217" cy="390363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de-DE"/>
              </a:defPPr>
              <a:lvl1pPr marL="0" algn="ctr" defTabSz="914400" rtl="0" eaLnBrk="1" latinLnBrk="0" hangingPunct="1"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fld id="{BC91ACE6-FF1C-E844-9E32-BB73F9282139}" type="slidenum">
                <a:rPr lang="de-DE" sz="900" b="0" i="0" smtClean="0">
                  <a:solidFill>
                    <a:srgbClr val="00475B"/>
                  </a:solidFill>
                  <a:latin typeface="+mn-lt"/>
                  <a:cs typeface="Helvetica Light"/>
                </a:rPr>
                <a:t>‹Nr.›</a:t>
              </a:fld>
              <a:r>
                <a:rPr lang="de-DE" sz="900" b="0" i="0" dirty="0">
                  <a:solidFill>
                    <a:srgbClr val="00475B"/>
                  </a:solidFill>
                  <a:latin typeface="+mn-lt"/>
                  <a:cs typeface="Helvetica Light"/>
                </a:rPr>
                <a:t> | 18. März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80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0372021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AA149C8-059F-F8DA-54B4-6DAA50EB5433}"/>
              </a:ext>
            </a:extLst>
          </p:cNvPr>
          <p:cNvGrpSpPr/>
          <p:nvPr userDrawn="1"/>
        </p:nvGrpSpPr>
        <p:grpSpPr>
          <a:xfrm>
            <a:off x="515939" y="6361055"/>
            <a:ext cx="3348027" cy="390363"/>
            <a:chOff x="515939" y="6361055"/>
            <a:chExt cx="3348027" cy="39036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5E130A7-B950-B906-6A48-797C8F1DBA46}"/>
                </a:ext>
              </a:extLst>
            </p:cNvPr>
            <p:cNvSpPr/>
            <p:nvPr userDrawn="1"/>
          </p:nvSpPr>
          <p:spPr>
            <a:xfrm>
              <a:off x="515939" y="6412375"/>
              <a:ext cx="1636952" cy="277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D25C1469-9A19-EEE7-49C2-E65CEF9F74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28749" y="6361055"/>
              <a:ext cx="3335217" cy="390363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de-DE"/>
              </a:defPPr>
              <a:lvl1pPr marL="0" algn="ctr" defTabSz="914400" rtl="0" eaLnBrk="1" latinLnBrk="0" hangingPunct="1"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fld id="{BC91ACE6-FF1C-E844-9E32-BB73F9282139}" type="slidenum">
                <a:rPr lang="de-DE" sz="900" b="0" i="0" smtClean="0">
                  <a:solidFill>
                    <a:srgbClr val="00475B"/>
                  </a:solidFill>
                  <a:latin typeface="+mn-lt"/>
                  <a:cs typeface="Helvetica Light"/>
                </a:rPr>
                <a:t>‹Nr.›</a:t>
              </a:fld>
              <a:r>
                <a:rPr lang="de-DE" sz="900" b="0" i="0" dirty="0">
                  <a:solidFill>
                    <a:srgbClr val="00475B"/>
                  </a:solidFill>
                  <a:latin typeface="+mn-lt"/>
                  <a:cs typeface="Helvetica Light"/>
                </a:rPr>
                <a:t> | 18. März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21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2" orient="horz" pos="96">
          <p15:clr>
            <a:srgbClr val="FBAE40"/>
          </p15:clr>
        </p15:guide>
        <p15:guide id="3" pos="751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A529106-BD77-2DC0-8A34-88B1AA2E0C87}"/>
              </a:ext>
            </a:extLst>
          </p:cNvPr>
          <p:cNvGrpSpPr/>
          <p:nvPr userDrawn="1"/>
        </p:nvGrpSpPr>
        <p:grpSpPr>
          <a:xfrm>
            <a:off x="515939" y="6361055"/>
            <a:ext cx="3348027" cy="390363"/>
            <a:chOff x="515939" y="6361055"/>
            <a:chExt cx="3348027" cy="39036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B084C6E-D773-16A2-F2E0-A96ABBB14A2C}"/>
                </a:ext>
              </a:extLst>
            </p:cNvPr>
            <p:cNvSpPr/>
            <p:nvPr userDrawn="1"/>
          </p:nvSpPr>
          <p:spPr>
            <a:xfrm>
              <a:off x="515939" y="6412375"/>
              <a:ext cx="1636952" cy="277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Fußzeilenplatzhalter 4">
              <a:extLst>
                <a:ext uri="{FF2B5EF4-FFF2-40B4-BE49-F238E27FC236}">
                  <a16:creationId xmlns:a16="http://schemas.microsoft.com/office/drawing/2014/main" id="{32AC91D5-1B48-FA7B-7218-A0FBB8C72A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28749" y="6361055"/>
              <a:ext cx="3335217" cy="390363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de-DE"/>
              </a:defPPr>
              <a:lvl1pPr marL="0" algn="ctr" defTabSz="914400" rtl="0" eaLnBrk="1" latinLnBrk="0" hangingPunct="1"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fld id="{BC91ACE6-FF1C-E844-9E32-BB73F9282139}" type="slidenum">
                <a:rPr lang="de-DE" sz="900" b="0" i="0" smtClean="0">
                  <a:solidFill>
                    <a:srgbClr val="00475B"/>
                  </a:solidFill>
                  <a:latin typeface="+mn-lt"/>
                  <a:cs typeface="Helvetica Light"/>
                </a:rPr>
                <a:t>‹Nr.›</a:t>
              </a:fld>
              <a:r>
                <a:rPr lang="de-DE" sz="900" b="0" i="0" dirty="0">
                  <a:solidFill>
                    <a:srgbClr val="00475B"/>
                  </a:solidFill>
                  <a:latin typeface="+mn-lt"/>
                  <a:cs typeface="Helvetica Light"/>
                </a:rPr>
                <a:t> | 18. März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669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fik 51">
            <a:extLst>
              <a:ext uri="{FF2B5EF4-FFF2-40B4-BE49-F238E27FC236}">
                <a16:creationId xmlns:a16="http://schemas.microsoft.com/office/drawing/2014/main" id="{D08638B7-8914-4FE8-6501-5FF6B02F2D9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5251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ED80C01-6ED9-D6FC-028D-7513E64A62F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419" y="6121758"/>
            <a:ext cx="479069" cy="479069"/>
          </a:xfrm>
          <a:prstGeom prst="rect">
            <a:avLst/>
          </a:prstGeom>
        </p:spPr>
      </p:pic>
      <p:sp>
        <p:nvSpPr>
          <p:cNvPr id="53" name="Fußzeilenplatzhalter 4">
            <a:extLst>
              <a:ext uri="{FF2B5EF4-FFF2-40B4-BE49-F238E27FC236}">
                <a16:creationId xmlns:a16="http://schemas.microsoft.com/office/drawing/2014/main" id="{31C043C4-F47A-2157-0442-183B00A3D87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accent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B6EBBEA-F17E-D792-5468-8FC4399C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156" userDrawn="1">
          <p15:clr>
            <a:srgbClr val="F26B43"/>
          </p15:clr>
        </p15:guide>
        <p15:guide id="11" orient="horz" pos="845">
          <p15:clr>
            <a:srgbClr val="F26B43"/>
          </p15:clr>
        </p15:guide>
        <p15:guide id="13" orient="horz">
          <p15:clr>
            <a:srgbClr val="F26B43"/>
          </p15:clr>
        </p15:guide>
        <p15:guide id="14" pos="325">
          <p15:clr>
            <a:srgbClr val="F26B43"/>
          </p15:clr>
        </p15:guide>
        <p15:guide id="15" pos="7514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3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jpe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SAP-samples/teched2025-AD166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p.com/products/technology-platform/low-code.html" TargetMode="External"/><Relationship Id="rId13" Type="http://schemas.openxmlformats.org/officeDocument/2006/relationships/hyperlink" Target="https://store.build.cloud.sap/store" TargetMode="External"/><Relationship Id="rId18" Type="http://schemas.openxmlformats.org/officeDocument/2006/relationships/image" Target="../media/image29.png"/><Relationship Id="rId3" Type="http://schemas.openxmlformats.org/officeDocument/2006/relationships/hyperlink" Target="https://www.sap.com/products/technology-platform/build/trial.html" TargetMode="External"/><Relationship Id="rId7" Type="http://schemas.openxmlformats.org/officeDocument/2006/relationships/hyperlink" Target="https://www.sap.com/products/technology-platform/low-code/s4hana.html#:~:text=Accelerate%20enterprise%20automation%20for%20SAP,while%20keeping%20the%20core%20clean.&amp;text=Accelerate%20innovation%20to%20unlock%20your%20business%20potential." TargetMode="External"/><Relationship Id="rId12" Type="http://schemas.openxmlformats.org/officeDocument/2006/relationships/image" Target="../media/image25.svg"/><Relationship Id="rId17" Type="http://schemas.openxmlformats.org/officeDocument/2006/relationships/image" Target="../media/image28.svg"/><Relationship Id="rId2" Type="http://schemas.openxmlformats.org/officeDocument/2006/relationships/image" Target="../media/image17.pn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11" Type="http://schemas.openxmlformats.org/officeDocument/2006/relationships/image" Target="../media/image24.svg"/><Relationship Id="rId5" Type="http://schemas.openxmlformats.org/officeDocument/2006/relationships/hyperlink" Target="https://community.sap.com/t5/technology-blogs-by-sap/how-to-activate-your-free-sap-build-entitlements-with-your-sap-s-4hana/ba-p/13736765" TargetMode="External"/><Relationship Id="rId15" Type="http://schemas.openxmlformats.org/officeDocument/2006/relationships/image" Target="../media/image26.svg"/><Relationship Id="rId10" Type="http://schemas.openxmlformats.org/officeDocument/2006/relationships/image" Target="../media/image23.svg"/><Relationship Id="rId4" Type="http://schemas.openxmlformats.org/officeDocument/2006/relationships/image" Target="../media/image21.svg"/><Relationship Id="rId9" Type="http://schemas.openxmlformats.org/officeDocument/2006/relationships/hyperlink" Target="https://learning.sap.com/products/sap-build" TargetMode="External"/><Relationship Id="rId14" Type="http://schemas.openxmlformats.org/officeDocument/2006/relationships/hyperlink" Target="https://store.sap.com/dcp/en/product/display-9999912510_live_v1/activation-service-for-sap-build-process-automation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apui5.hana.ondemand.com/test-resources/sap/fe/core/fpmExplorer/index.html#/overview/introduction" TargetMode="External"/><Relationship Id="rId13" Type="http://schemas.openxmlformats.org/officeDocument/2006/relationships/hyperlink" Target="https://help.sap.com/docs/sap-btp-guidance-framework/guidance-framework/what-is-sap-btp-guidance-framework" TargetMode="External"/><Relationship Id="rId18" Type="http://schemas.openxmlformats.org/officeDocument/2006/relationships/hyperlink" Target="https://help.sap.com/viewer/UI5_Flex" TargetMode="External"/><Relationship Id="rId3" Type="http://schemas.openxmlformats.org/officeDocument/2006/relationships/image" Target="../media/image30.jpeg"/><Relationship Id="rId21" Type="http://schemas.openxmlformats.org/officeDocument/2006/relationships/hyperlink" Target="https://github.com/SAP-samples/ui5-flexibility-easy-key-user-adaptation" TargetMode="External"/><Relationship Id="rId7" Type="http://schemas.openxmlformats.org/officeDocument/2006/relationships/hyperlink" Target="https://help.sap.com/docs/WZ/b03c84105ff74f809631e494bd612e83/4679f1cb6ed24e2eb0ebd07151758269.html" TargetMode="External"/><Relationship Id="rId12" Type="http://schemas.openxmlformats.org/officeDocument/2006/relationships/hyperlink" Target="https://www.sap.com/products/technology-platform.html" TargetMode="External"/><Relationship Id="rId17" Type="http://schemas.openxmlformats.org/officeDocument/2006/relationships/hyperlink" Target="https://help.sap.com/docs/sap-btp-guidance-framework/extension-architecture-guide/what-is-extension-architecture-guide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community.sap.com/t5/technology-blogs-by-sap/product-updates-for-sap-build-code-january-2025-edition/ba-p/13993021" TargetMode="External"/><Relationship Id="rId20" Type="http://schemas.openxmlformats.org/officeDocument/2006/relationships/hyperlink" Target="https://developers.sap.com/mission.sapui5-key-user-adaptation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ui5.sap.com/" TargetMode="External"/><Relationship Id="rId11" Type="http://schemas.openxmlformats.org/officeDocument/2006/relationships/hyperlink" Target="https://sap.github.io/ui5-webcomponents/" TargetMode="External"/><Relationship Id="rId5" Type="http://schemas.openxmlformats.org/officeDocument/2006/relationships/hyperlink" Target="https://blogs.sap.com/2021/08/23/what-is-sapui5/" TargetMode="External"/><Relationship Id="rId15" Type="http://schemas.openxmlformats.org/officeDocument/2006/relationships/hyperlink" Target="https://sap.com/build-code" TargetMode="External"/><Relationship Id="rId10" Type="http://schemas.openxmlformats.org/officeDocument/2006/relationships/hyperlink" Target="https://community.sap.com/t5/technology-blog-posts-by-sap/give-your-ai-agent-some-tools-introducing-the-ui5-mcp-server/ba-p/14200825" TargetMode="External"/><Relationship Id="rId19" Type="http://schemas.openxmlformats.org/officeDocument/2006/relationships/hyperlink" Target="https://community.sap.com/t5/technology-blogs-by-sap/extending-sapui5-apps-adaptation-projects-vs-extension-projects/ba-p/13961264" TargetMode="External"/><Relationship Id="rId4" Type="http://schemas.openxmlformats.org/officeDocument/2006/relationships/hyperlink" Target="https://experience.sap.com/fiori-design/" TargetMode="External"/><Relationship Id="rId9" Type="http://schemas.openxmlformats.org/officeDocument/2006/relationships/hyperlink" Target="https://ui5.sap.com/#/topic/28fcd55b04654977b63dacbee0552712" TargetMode="External"/><Relationship Id="rId14" Type="http://schemas.openxmlformats.org/officeDocument/2006/relationships/hyperlink" Target="https://www.sap.com/products/technology-platform/build.html" TargetMode="External"/><Relationship Id="rId22" Type="http://schemas.openxmlformats.org/officeDocument/2006/relationships/hyperlink" Target="https://www.sap.com/events/teched/virtual/flow/sap/tev25/catalog-virtual/page/catalog/session/1752166265407001r3vW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3A33C9-C584-1139-83AD-2C04709E2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833" y="2176497"/>
            <a:ext cx="6212340" cy="728068"/>
          </a:xfrm>
        </p:spPr>
        <p:txBody>
          <a:bodyPr/>
          <a:lstStyle/>
          <a:p>
            <a:r>
              <a:rPr lang="en-US" dirty="0"/>
              <a:t>Tommy Lam, Senior Developer</a:t>
            </a:r>
          </a:p>
          <a:p>
            <a:r>
              <a:rPr lang="en-US" dirty="0"/>
              <a:t>Christian </a:t>
            </a:r>
            <a:r>
              <a:rPr lang="en-US" dirty="0" err="1"/>
              <a:t>Voshage</a:t>
            </a:r>
            <a:r>
              <a:rPr lang="en-US" dirty="0"/>
              <a:t>, Product Manager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4A300B-6AAE-1F79-5A6E-CA870BD0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02" y="900282"/>
            <a:ext cx="11142243" cy="1276215"/>
          </a:xfrm>
        </p:spPr>
        <p:txBody>
          <a:bodyPr/>
          <a:lstStyle/>
          <a:p>
            <a:r>
              <a:rPr lang="en-US" dirty="0"/>
              <a:t>AD166</a:t>
            </a:r>
            <a:br>
              <a:rPr lang="en-US" dirty="0"/>
            </a:br>
            <a:r>
              <a:rPr lang="en-US" dirty="0"/>
              <a:t>Taking UI to the next level:</a:t>
            </a:r>
            <a:br>
              <a:rPr lang="en-US" dirty="0"/>
            </a:br>
            <a:r>
              <a:rPr lang="en-US" dirty="0"/>
              <a:t>Develop SAPUI5 with SAP Build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6A57A2-5A15-4D29-E24D-4827F8992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7902" y="3103215"/>
            <a:ext cx="6211409" cy="325785"/>
          </a:xfrm>
        </p:spPr>
        <p:txBody>
          <a:bodyPr/>
          <a:lstStyle/>
          <a:p>
            <a:r>
              <a:rPr lang="en-US" dirty="0"/>
              <a:t>SAP</a:t>
            </a:r>
          </a:p>
        </p:txBody>
      </p:sp>
    </p:spTree>
    <p:extLst>
      <p:ext uri="{BB962C8B-B14F-4D97-AF65-F5344CB8AC3E}">
        <p14:creationId xmlns:p14="http://schemas.microsoft.com/office/powerpoint/2010/main" val="222667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7E2B4B-473E-02D4-06A4-A261EDDD6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8" y="2079408"/>
            <a:ext cx="8383587" cy="335510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Developing a freestyle SAPUI5 Web application using TypeScript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Integrating a SAP Web Component into this SAPUI5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Using the UI5 Linter to ensure your app follows the latest best practices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Leveraging Joule for SAPUI5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FE70C0-A04D-7050-F52A-8DE85A9F4A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What you will learn</a:t>
            </a:r>
          </a:p>
        </p:txBody>
      </p:sp>
    </p:spTree>
    <p:extLst>
      <p:ext uri="{BB962C8B-B14F-4D97-AF65-F5344CB8AC3E}">
        <p14:creationId xmlns:p14="http://schemas.microsoft.com/office/powerpoint/2010/main" val="186759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r>
              <a:rPr lang="en-US" sz="2000" dirty="0"/>
              <a:t>SAPUI5 Development with SAP Build</a:t>
            </a:r>
          </a:p>
        </p:txBody>
      </p:sp>
      <p:sp>
        <p:nvSpPr>
          <p:cNvPr id="2" name="Rounded Rectangle 1290">
            <a:extLst>
              <a:ext uri="{FF2B5EF4-FFF2-40B4-BE49-F238E27FC236}">
                <a16:creationId xmlns:a16="http://schemas.microsoft.com/office/drawing/2014/main" id="{CC8089CC-60D2-27A8-7663-D95FD169F2E6}"/>
              </a:ext>
            </a:extLst>
          </p:cNvPr>
          <p:cNvSpPr/>
          <p:nvPr/>
        </p:nvSpPr>
        <p:spPr bwMode="gray">
          <a:xfrm>
            <a:off x="1012834" y="2495161"/>
            <a:ext cx="8636718" cy="3069223"/>
          </a:xfrm>
          <a:prstGeom prst="roundRect">
            <a:avLst>
              <a:gd name="adj" fmla="val 2348"/>
            </a:avLst>
          </a:prstGeom>
          <a:noFill/>
          <a:ln w="11430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miter lim="800000"/>
            <a:headEnd/>
            <a:tailEnd type="arrow" w="med" len="sm"/>
          </a:ln>
        </p:spPr>
        <p:txBody>
          <a:bodyPr lIns="162338" tIns="129870" rIns="162338" bIns="129870" rtlCol="0" anchor="t"/>
          <a:lstStyle/>
          <a:p>
            <a:pPr marL="0" marR="0" lvl="0" indent="0" algn="l" defTabSz="107405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: Rounded Corners 2069">
            <a:extLst>
              <a:ext uri="{FF2B5EF4-FFF2-40B4-BE49-F238E27FC236}">
                <a16:creationId xmlns:a16="http://schemas.microsoft.com/office/drawing/2014/main" id="{A0324603-A1E5-CA3C-82A5-2DCE29505B4D}"/>
              </a:ext>
            </a:extLst>
          </p:cNvPr>
          <p:cNvSpPr/>
          <p:nvPr/>
        </p:nvSpPr>
        <p:spPr bwMode="gray">
          <a:xfrm rot="5400000">
            <a:off x="3909274" y="-379893"/>
            <a:ext cx="2911362" cy="8243823"/>
          </a:xfrm>
          <a:prstGeom prst="roundRect">
            <a:avLst>
              <a:gd name="adj" fmla="val 2038"/>
            </a:avLst>
          </a:prstGeom>
          <a:gradFill>
            <a:gsLst>
              <a:gs pos="0">
                <a:srgbClr val="D1EFFF">
                  <a:alpha val="50000"/>
                </a:srgbClr>
              </a:gs>
              <a:gs pos="100000">
                <a:srgbClr val="89D1FF">
                  <a:alpha val="50000"/>
                </a:srgbClr>
              </a:gs>
            </a:gsLst>
            <a:lin ang="5400000" scaled="1"/>
          </a:gradFill>
          <a:ln w="25400" algn="ctr">
            <a:noFill/>
            <a:miter lim="800000"/>
            <a:headEnd/>
            <a:tailEnd/>
          </a:ln>
          <a:effectLst/>
        </p:spPr>
        <p:txBody>
          <a:bodyPr lIns="182736" tIns="146190" rIns="182736" bIns="146190" rtlCol="0" anchor="t"/>
          <a:lstStyle/>
          <a:p>
            <a:pPr marL="0" marR="0" lvl="0" indent="0" algn="l" defTabSz="913578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6" name="Group 39">
            <a:extLst>
              <a:ext uri="{FF2B5EF4-FFF2-40B4-BE49-F238E27FC236}">
                <a16:creationId xmlns:a16="http://schemas.microsoft.com/office/drawing/2014/main" id="{8EDB12F3-7C61-A43C-5F4E-E0D7C87CCC9B}"/>
              </a:ext>
            </a:extLst>
          </p:cNvPr>
          <p:cNvGrpSpPr/>
          <p:nvPr/>
        </p:nvGrpSpPr>
        <p:grpSpPr>
          <a:xfrm>
            <a:off x="7357804" y="4109340"/>
            <a:ext cx="770610" cy="513370"/>
            <a:chOff x="4926372" y="4490707"/>
            <a:chExt cx="1025413" cy="683139"/>
          </a:xfrm>
          <a:gradFill>
            <a:gsLst>
              <a:gs pos="11000">
                <a:srgbClr val="EAECEE">
                  <a:lumMod val="90000"/>
                  <a:alpha val="13000"/>
                </a:srgbClr>
              </a:gs>
              <a:gs pos="75000">
                <a:srgbClr val="EAECEE">
                  <a:lumMod val="90000"/>
                  <a:alpha val="0"/>
                </a:srgbClr>
              </a:gs>
            </a:gsLst>
            <a:lin ang="16200000" scaled="1"/>
          </a:gradFill>
        </p:grpSpPr>
        <p:sp>
          <p:nvSpPr>
            <p:cNvPr id="7" name="Freeform: Shape 1556">
              <a:extLst>
                <a:ext uri="{FF2B5EF4-FFF2-40B4-BE49-F238E27FC236}">
                  <a16:creationId xmlns:a16="http://schemas.microsoft.com/office/drawing/2014/main" id="{3A65FF46-86B1-9830-5B2C-D993477C5C6D}"/>
                </a:ext>
              </a:extLst>
            </p:cNvPr>
            <p:cNvSpPr/>
            <p:nvPr/>
          </p:nvSpPr>
          <p:spPr>
            <a:xfrm>
              <a:off x="4926372" y="4492572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reeform: Shape 1558">
              <a:extLst>
                <a:ext uri="{FF2B5EF4-FFF2-40B4-BE49-F238E27FC236}">
                  <a16:creationId xmlns:a16="http://schemas.microsoft.com/office/drawing/2014/main" id="{CBEBE81D-4ACD-6085-13CE-2BB8015E8DFE}"/>
                </a:ext>
              </a:extLst>
            </p:cNvPr>
            <p:cNvSpPr/>
            <p:nvPr/>
          </p:nvSpPr>
          <p:spPr>
            <a:xfrm>
              <a:off x="5098196" y="4490707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Freeform: Shape 1559">
              <a:extLst>
                <a:ext uri="{FF2B5EF4-FFF2-40B4-BE49-F238E27FC236}">
                  <a16:creationId xmlns:a16="http://schemas.microsoft.com/office/drawing/2014/main" id="{326A7587-8B90-B730-A131-31CCF6E0F4CE}"/>
                </a:ext>
              </a:extLst>
            </p:cNvPr>
            <p:cNvSpPr/>
            <p:nvPr/>
          </p:nvSpPr>
          <p:spPr>
            <a:xfrm>
              <a:off x="5294545" y="4492572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Freeform: Shape 1561">
              <a:extLst>
                <a:ext uri="{FF2B5EF4-FFF2-40B4-BE49-F238E27FC236}">
                  <a16:creationId xmlns:a16="http://schemas.microsoft.com/office/drawing/2014/main" id="{10FC4264-26D1-BAA4-5671-8114FE2B9880}"/>
                </a:ext>
              </a:extLst>
            </p:cNvPr>
            <p:cNvSpPr/>
            <p:nvPr/>
          </p:nvSpPr>
          <p:spPr>
            <a:xfrm>
              <a:off x="5478632" y="4492572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Freeform: Shape 1562">
              <a:extLst>
                <a:ext uri="{FF2B5EF4-FFF2-40B4-BE49-F238E27FC236}">
                  <a16:creationId xmlns:a16="http://schemas.microsoft.com/office/drawing/2014/main" id="{E6735DCA-8569-2BFA-0ED7-3F484AC2A97D}"/>
                </a:ext>
              </a:extLst>
            </p:cNvPr>
            <p:cNvSpPr/>
            <p:nvPr/>
          </p:nvSpPr>
          <p:spPr>
            <a:xfrm>
              <a:off x="5688590" y="4490707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Freeform: Shape 1563">
              <a:extLst>
                <a:ext uri="{FF2B5EF4-FFF2-40B4-BE49-F238E27FC236}">
                  <a16:creationId xmlns:a16="http://schemas.microsoft.com/office/drawing/2014/main" id="{9EC29837-2CF3-A8C6-D554-0F6CD44C22A6}"/>
                </a:ext>
              </a:extLst>
            </p:cNvPr>
            <p:cNvSpPr/>
            <p:nvPr/>
          </p:nvSpPr>
          <p:spPr>
            <a:xfrm>
              <a:off x="5872678" y="4490707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Freeform: Shape 1567">
              <a:extLst>
                <a:ext uri="{FF2B5EF4-FFF2-40B4-BE49-F238E27FC236}">
                  <a16:creationId xmlns:a16="http://schemas.microsoft.com/office/drawing/2014/main" id="{D0449D42-57C5-DCCC-4396-D99013D319CE}"/>
                </a:ext>
              </a:extLst>
            </p:cNvPr>
            <p:cNvSpPr/>
            <p:nvPr/>
          </p:nvSpPr>
          <p:spPr>
            <a:xfrm>
              <a:off x="4926372" y="4684481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Freeform: Shape 1568">
              <a:extLst>
                <a:ext uri="{FF2B5EF4-FFF2-40B4-BE49-F238E27FC236}">
                  <a16:creationId xmlns:a16="http://schemas.microsoft.com/office/drawing/2014/main" id="{9258EA3D-BE5A-18A6-313D-1A3269A025E2}"/>
                </a:ext>
              </a:extLst>
            </p:cNvPr>
            <p:cNvSpPr/>
            <p:nvPr/>
          </p:nvSpPr>
          <p:spPr>
            <a:xfrm>
              <a:off x="5098196" y="4682615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Freeform: Shape 1569">
              <a:extLst>
                <a:ext uri="{FF2B5EF4-FFF2-40B4-BE49-F238E27FC236}">
                  <a16:creationId xmlns:a16="http://schemas.microsoft.com/office/drawing/2014/main" id="{7C9D205E-30C3-C835-0D63-0BFE4D71CEC3}"/>
                </a:ext>
              </a:extLst>
            </p:cNvPr>
            <p:cNvSpPr/>
            <p:nvPr/>
          </p:nvSpPr>
          <p:spPr>
            <a:xfrm>
              <a:off x="5294545" y="4684481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Freeform: Shape 1574">
              <a:extLst>
                <a:ext uri="{FF2B5EF4-FFF2-40B4-BE49-F238E27FC236}">
                  <a16:creationId xmlns:a16="http://schemas.microsoft.com/office/drawing/2014/main" id="{E9B9764F-4D07-D0A1-313E-442BF709143C}"/>
                </a:ext>
              </a:extLst>
            </p:cNvPr>
            <p:cNvSpPr/>
            <p:nvPr/>
          </p:nvSpPr>
          <p:spPr>
            <a:xfrm>
              <a:off x="5478632" y="4684481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: Shape 1576">
              <a:extLst>
                <a:ext uri="{FF2B5EF4-FFF2-40B4-BE49-F238E27FC236}">
                  <a16:creationId xmlns:a16="http://schemas.microsoft.com/office/drawing/2014/main" id="{B3CE05A7-66D7-AC9C-D69C-8C209109110B}"/>
                </a:ext>
              </a:extLst>
            </p:cNvPr>
            <p:cNvSpPr/>
            <p:nvPr/>
          </p:nvSpPr>
          <p:spPr>
            <a:xfrm>
              <a:off x="5688590" y="4682615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Freeform: Shape 1578">
              <a:extLst>
                <a:ext uri="{FF2B5EF4-FFF2-40B4-BE49-F238E27FC236}">
                  <a16:creationId xmlns:a16="http://schemas.microsoft.com/office/drawing/2014/main" id="{7848889E-C4B5-5273-9ECE-A00A6E7A6CBB}"/>
                </a:ext>
              </a:extLst>
            </p:cNvPr>
            <p:cNvSpPr/>
            <p:nvPr/>
          </p:nvSpPr>
          <p:spPr>
            <a:xfrm>
              <a:off x="5872678" y="4682615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Freeform: Shape 1582">
              <a:extLst>
                <a:ext uri="{FF2B5EF4-FFF2-40B4-BE49-F238E27FC236}">
                  <a16:creationId xmlns:a16="http://schemas.microsoft.com/office/drawing/2014/main" id="{D19F87BF-EFB0-8552-C20E-20FB41D5BCC0}"/>
                </a:ext>
              </a:extLst>
            </p:cNvPr>
            <p:cNvSpPr/>
            <p:nvPr/>
          </p:nvSpPr>
          <p:spPr>
            <a:xfrm>
              <a:off x="4926372" y="4876388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Freeform: Shape 1584">
              <a:extLst>
                <a:ext uri="{FF2B5EF4-FFF2-40B4-BE49-F238E27FC236}">
                  <a16:creationId xmlns:a16="http://schemas.microsoft.com/office/drawing/2014/main" id="{F205C7FF-B9BC-1E57-C464-51AD1490967D}"/>
                </a:ext>
              </a:extLst>
            </p:cNvPr>
            <p:cNvSpPr/>
            <p:nvPr/>
          </p:nvSpPr>
          <p:spPr>
            <a:xfrm>
              <a:off x="5098196" y="4874523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: Shape 1585">
              <a:extLst>
                <a:ext uri="{FF2B5EF4-FFF2-40B4-BE49-F238E27FC236}">
                  <a16:creationId xmlns:a16="http://schemas.microsoft.com/office/drawing/2014/main" id="{0B9C5576-A452-5457-A9A6-8AAF04F05BB7}"/>
                </a:ext>
              </a:extLst>
            </p:cNvPr>
            <p:cNvSpPr/>
            <p:nvPr/>
          </p:nvSpPr>
          <p:spPr>
            <a:xfrm>
              <a:off x="5294545" y="4876388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Freeform: Shape 1586">
              <a:extLst>
                <a:ext uri="{FF2B5EF4-FFF2-40B4-BE49-F238E27FC236}">
                  <a16:creationId xmlns:a16="http://schemas.microsoft.com/office/drawing/2014/main" id="{05AEA3D0-B92A-E1AE-EF88-18B9931B7E1A}"/>
                </a:ext>
              </a:extLst>
            </p:cNvPr>
            <p:cNvSpPr/>
            <p:nvPr/>
          </p:nvSpPr>
          <p:spPr>
            <a:xfrm>
              <a:off x="5478632" y="4876388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Freeform: Shape 1587">
              <a:extLst>
                <a:ext uri="{FF2B5EF4-FFF2-40B4-BE49-F238E27FC236}">
                  <a16:creationId xmlns:a16="http://schemas.microsoft.com/office/drawing/2014/main" id="{38F2356A-9ECE-50BC-37E6-799A7F4B0609}"/>
                </a:ext>
              </a:extLst>
            </p:cNvPr>
            <p:cNvSpPr/>
            <p:nvPr/>
          </p:nvSpPr>
          <p:spPr>
            <a:xfrm>
              <a:off x="5688590" y="4874523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1588">
              <a:extLst>
                <a:ext uri="{FF2B5EF4-FFF2-40B4-BE49-F238E27FC236}">
                  <a16:creationId xmlns:a16="http://schemas.microsoft.com/office/drawing/2014/main" id="{46A2969C-CDB5-AF2F-C889-873CBCF46CC5}"/>
                </a:ext>
              </a:extLst>
            </p:cNvPr>
            <p:cNvSpPr/>
            <p:nvPr/>
          </p:nvSpPr>
          <p:spPr>
            <a:xfrm>
              <a:off x="5872678" y="4874523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1594">
              <a:extLst>
                <a:ext uri="{FF2B5EF4-FFF2-40B4-BE49-F238E27FC236}">
                  <a16:creationId xmlns:a16="http://schemas.microsoft.com/office/drawing/2014/main" id="{E264DA7C-4EBD-94D3-AB26-275F003538DF}"/>
                </a:ext>
              </a:extLst>
            </p:cNvPr>
            <p:cNvSpPr/>
            <p:nvPr/>
          </p:nvSpPr>
          <p:spPr>
            <a:xfrm>
              <a:off x="4926372" y="5068297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1595">
              <a:extLst>
                <a:ext uri="{FF2B5EF4-FFF2-40B4-BE49-F238E27FC236}">
                  <a16:creationId xmlns:a16="http://schemas.microsoft.com/office/drawing/2014/main" id="{B85F072E-0350-0BE5-0332-63B5DC0E7EBB}"/>
                </a:ext>
              </a:extLst>
            </p:cNvPr>
            <p:cNvSpPr/>
            <p:nvPr/>
          </p:nvSpPr>
          <p:spPr>
            <a:xfrm>
              <a:off x="5098196" y="5066431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8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1596">
              <a:extLst>
                <a:ext uri="{FF2B5EF4-FFF2-40B4-BE49-F238E27FC236}">
                  <a16:creationId xmlns:a16="http://schemas.microsoft.com/office/drawing/2014/main" id="{2DDEB9CA-CA84-D9AA-94DD-62D899FABEBB}"/>
                </a:ext>
              </a:extLst>
            </p:cNvPr>
            <p:cNvSpPr/>
            <p:nvPr/>
          </p:nvSpPr>
          <p:spPr>
            <a:xfrm>
              <a:off x="5294545" y="5068297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1598">
              <a:extLst>
                <a:ext uri="{FF2B5EF4-FFF2-40B4-BE49-F238E27FC236}">
                  <a16:creationId xmlns:a16="http://schemas.microsoft.com/office/drawing/2014/main" id="{7F2BA9C4-8658-C40E-3FFA-33086B10F797}"/>
                </a:ext>
              </a:extLst>
            </p:cNvPr>
            <p:cNvSpPr/>
            <p:nvPr/>
          </p:nvSpPr>
          <p:spPr>
            <a:xfrm>
              <a:off x="5478632" y="5068297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1727">
              <a:extLst>
                <a:ext uri="{FF2B5EF4-FFF2-40B4-BE49-F238E27FC236}">
                  <a16:creationId xmlns:a16="http://schemas.microsoft.com/office/drawing/2014/main" id="{CCED5323-6E63-08BD-E381-9D2EBC402227}"/>
                </a:ext>
              </a:extLst>
            </p:cNvPr>
            <p:cNvSpPr/>
            <p:nvPr/>
          </p:nvSpPr>
          <p:spPr>
            <a:xfrm>
              <a:off x="5688590" y="5066431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8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1728">
              <a:extLst>
                <a:ext uri="{FF2B5EF4-FFF2-40B4-BE49-F238E27FC236}">
                  <a16:creationId xmlns:a16="http://schemas.microsoft.com/office/drawing/2014/main" id="{D0484B9F-88EE-35D2-0EF3-4A63C37CC26A}"/>
                </a:ext>
              </a:extLst>
            </p:cNvPr>
            <p:cNvSpPr/>
            <p:nvPr/>
          </p:nvSpPr>
          <p:spPr>
            <a:xfrm>
              <a:off x="5872678" y="5066431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8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1" name="Rectangle: Rounded Corners 12">
            <a:extLst>
              <a:ext uri="{FF2B5EF4-FFF2-40B4-BE49-F238E27FC236}">
                <a16:creationId xmlns:a16="http://schemas.microsoft.com/office/drawing/2014/main" id="{B76AE3CD-71A8-B53C-36F7-4C8E79C3D32D}"/>
              </a:ext>
            </a:extLst>
          </p:cNvPr>
          <p:cNvSpPr/>
          <p:nvPr/>
        </p:nvSpPr>
        <p:spPr bwMode="gray">
          <a:xfrm>
            <a:off x="557250" y="2226841"/>
            <a:ext cx="8771013" cy="1929425"/>
          </a:xfrm>
          <a:prstGeom prst="roundRect">
            <a:avLst>
              <a:gd name="adj" fmla="val 6637"/>
            </a:avLst>
          </a:prstGeom>
          <a:solidFill>
            <a:srgbClr val="002986"/>
          </a:solidFill>
          <a:ln w="19050" cap="flat" cmpd="sng" algn="ctr">
            <a:noFill/>
            <a:prstDash val="solid"/>
          </a:ln>
          <a:effectLst/>
        </p:spPr>
        <p:txBody>
          <a:bodyPr lIns="182688" tIns="182688" rIns="45672" rtlCol="0" anchor="ctr" anchorCtr="0"/>
          <a:lstStyle/>
          <a:p>
            <a:pPr marL="0" marR="0" lvl="0" indent="0" algn="l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32" name="TextBox 1850">
            <a:extLst>
              <a:ext uri="{FF2B5EF4-FFF2-40B4-BE49-F238E27FC236}">
                <a16:creationId xmlns:a16="http://schemas.microsoft.com/office/drawing/2014/main" id="{590247E7-52AD-912E-9A81-28F28981089E}"/>
              </a:ext>
            </a:extLst>
          </p:cNvPr>
          <p:cNvSpPr txBox="1"/>
          <p:nvPr/>
        </p:nvSpPr>
        <p:spPr>
          <a:xfrm>
            <a:off x="2711550" y="3111330"/>
            <a:ext cx="891359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Apps and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extensions</a:t>
            </a:r>
          </a:p>
        </p:txBody>
      </p:sp>
      <p:sp>
        <p:nvSpPr>
          <p:cNvPr id="33" name="TextBox 1934">
            <a:extLst>
              <a:ext uri="{FF2B5EF4-FFF2-40B4-BE49-F238E27FC236}">
                <a16:creationId xmlns:a16="http://schemas.microsoft.com/office/drawing/2014/main" id="{B7BA850A-D465-6E6A-B70A-61A1AB92E2DF}"/>
              </a:ext>
            </a:extLst>
          </p:cNvPr>
          <p:cNvSpPr txBox="1"/>
          <p:nvPr/>
        </p:nvSpPr>
        <p:spPr>
          <a:xfrm>
            <a:off x="6298246" y="3111330"/>
            <a:ext cx="963475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Digital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workspaces</a:t>
            </a:r>
          </a:p>
        </p:txBody>
      </p:sp>
      <p:sp>
        <p:nvSpPr>
          <p:cNvPr id="34" name="TextBox 1935">
            <a:extLst>
              <a:ext uri="{FF2B5EF4-FFF2-40B4-BE49-F238E27FC236}">
                <a16:creationId xmlns:a16="http://schemas.microsoft.com/office/drawing/2014/main" id="{4C25ECB8-2CAD-A226-2C15-A802FDD2D082}"/>
              </a:ext>
            </a:extLst>
          </p:cNvPr>
          <p:cNvSpPr txBox="1"/>
          <p:nvPr/>
        </p:nvSpPr>
        <p:spPr>
          <a:xfrm>
            <a:off x="5249049" y="3195945"/>
            <a:ext cx="780780" cy="261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AI agents</a:t>
            </a:r>
          </a:p>
        </p:txBody>
      </p:sp>
      <p:sp>
        <p:nvSpPr>
          <p:cNvPr id="35" name="TextBox 1936">
            <a:extLst>
              <a:ext uri="{FF2B5EF4-FFF2-40B4-BE49-F238E27FC236}">
                <a16:creationId xmlns:a16="http://schemas.microsoft.com/office/drawing/2014/main" id="{29F31BDE-01F2-88F9-4916-CCF684C2A44E}"/>
              </a:ext>
            </a:extLst>
          </p:cNvPr>
          <p:cNvSpPr txBox="1"/>
          <p:nvPr/>
        </p:nvSpPr>
        <p:spPr>
          <a:xfrm>
            <a:off x="3841676" y="3111330"/>
            <a:ext cx="1158991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Workflows and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automations</a:t>
            </a:r>
          </a:p>
        </p:txBody>
      </p:sp>
      <p:grpSp>
        <p:nvGrpSpPr>
          <p:cNvPr id="36" name="Group 1940">
            <a:extLst>
              <a:ext uri="{FF2B5EF4-FFF2-40B4-BE49-F238E27FC236}">
                <a16:creationId xmlns:a16="http://schemas.microsoft.com/office/drawing/2014/main" id="{AB26361D-D6C7-A72F-21EF-EE44BCA805CF}"/>
              </a:ext>
            </a:extLst>
          </p:cNvPr>
          <p:cNvGrpSpPr/>
          <p:nvPr/>
        </p:nvGrpSpPr>
        <p:grpSpPr>
          <a:xfrm>
            <a:off x="7865300" y="3083868"/>
            <a:ext cx="1060670" cy="623086"/>
            <a:chOff x="8301603" y="3630030"/>
            <a:chExt cx="1060946" cy="623248"/>
          </a:xfrm>
        </p:grpSpPr>
        <p:sp>
          <p:nvSpPr>
            <p:cNvPr id="37" name="TextBox 1938">
              <a:extLst>
                <a:ext uri="{FF2B5EF4-FFF2-40B4-BE49-F238E27FC236}">
                  <a16:creationId xmlns:a16="http://schemas.microsoft.com/office/drawing/2014/main" id="{4026BA18-547B-2690-E929-99A1C13E6B3A}"/>
                </a:ext>
              </a:extLst>
            </p:cNvPr>
            <p:cNvSpPr txBox="1"/>
            <p:nvPr/>
          </p:nvSpPr>
          <p:spPr>
            <a:xfrm>
              <a:off x="8522303" y="3630030"/>
              <a:ext cx="840246" cy="623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073731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7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  <a:t>3x</a:t>
              </a:r>
              <a:r>
                <a:rPr kumimoji="0" lang="en-US" sz="23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  <a:t> </a:t>
              </a:r>
              <a:br>
                <a:rPr kumimoji="0" lang="en-US" sz="23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</a:b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 Book" panose="020B0404030603020204" pitchFamily="34" charset="0"/>
                  <a:ea typeface="72 Brand" pitchFamily="34" charset="-128"/>
                  <a:cs typeface="72 Brand" pitchFamily="34" charset="-128"/>
                </a:rPr>
                <a:t>development </a:t>
              </a:r>
              <a:b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 Book" panose="020B0404030603020204" pitchFamily="34" charset="0"/>
                  <a:ea typeface="72 Brand" pitchFamily="34" charset="-128"/>
                  <a:cs typeface="72 Brand" pitchFamily="34" charset="-128"/>
                </a:rPr>
              </a:b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 Book" panose="020B0404030603020204" pitchFamily="34" charset="0"/>
                  <a:ea typeface="72 Brand" pitchFamily="34" charset="-128"/>
                  <a:cs typeface="72 Brand" pitchFamily="34" charset="-128"/>
                </a:rPr>
                <a:t>efficiency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890">
                      <a:srgbClr val="FFFFFF"/>
                    </a:gs>
                    <a:gs pos="48000">
                      <a:srgbClr val="FFFFFF"/>
                    </a:gs>
                  </a:gsLst>
                  <a:lin ang="0" scaled="1"/>
                </a:gradFill>
                <a:effectLst/>
                <a:uLnTx/>
                <a:uFillTx/>
                <a:latin typeface="72 Brand Book" panose="020B04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cxnSp>
          <p:nvCxnSpPr>
            <p:cNvPr id="38" name="Straight Arrow Connector 1939">
              <a:extLst>
                <a:ext uri="{FF2B5EF4-FFF2-40B4-BE49-F238E27FC236}">
                  <a16:creationId xmlns:a16="http://schemas.microsoft.com/office/drawing/2014/main" id="{4F311C9D-77AB-650F-9BAE-6A30896DFD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1603" y="3738666"/>
              <a:ext cx="0" cy="485614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FFF3B8">
                      <a:lumMod val="100000"/>
                    </a:srgbClr>
                  </a:gs>
                </a:gsLst>
                <a:lin ang="5400000" scaled="1"/>
              </a:gradFill>
              <a:headEnd type="none" w="med" len="med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: Rounded Corners 1798">
            <a:extLst>
              <a:ext uri="{FF2B5EF4-FFF2-40B4-BE49-F238E27FC236}">
                <a16:creationId xmlns:a16="http://schemas.microsoft.com/office/drawing/2014/main" id="{A8BEA4F8-8032-FCEA-A1D2-81C300A535AA}"/>
              </a:ext>
            </a:extLst>
          </p:cNvPr>
          <p:cNvSpPr/>
          <p:nvPr/>
        </p:nvSpPr>
        <p:spPr bwMode="gray">
          <a:xfrm>
            <a:off x="2427381" y="2894108"/>
            <a:ext cx="4998438" cy="875931"/>
          </a:xfrm>
          <a:prstGeom prst="roundRect">
            <a:avLst>
              <a:gd name="adj" fmla="val 7573"/>
            </a:avLst>
          </a:prstGeom>
          <a:noFill/>
          <a:ln w="9525" algn="ctr">
            <a:solidFill>
              <a:srgbClr val="89D1FF"/>
            </a:solidFill>
            <a:miter lim="800000"/>
            <a:headEnd/>
            <a:tailEnd/>
          </a:ln>
        </p:spPr>
        <p:txBody>
          <a:bodyPr lIns="182736" tIns="146190" rIns="182736" bIns="146190" rtlCol="0" anchor="t"/>
          <a:lstStyle/>
          <a:p>
            <a:pPr marL="0" marR="0" lvl="0" indent="0" algn="l" defTabSz="913578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0" name="TextBox 1946">
            <a:extLst>
              <a:ext uri="{FF2B5EF4-FFF2-40B4-BE49-F238E27FC236}">
                <a16:creationId xmlns:a16="http://schemas.microsoft.com/office/drawing/2014/main" id="{DAAC3562-5145-654B-F0DE-8B54D962E767}"/>
              </a:ext>
            </a:extLst>
          </p:cNvPr>
          <p:cNvSpPr txBox="1"/>
          <p:nvPr/>
        </p:nvSpPr>
        <p:spPr>
          <a:xfrm>
            <a:off x="4222050" y="3856914"/>
            <a:ext cx="1385892" cy="330842"/>
          </a:xfrm>
          <a:prstGeom prst="rect">
            <a:avLst/>
          </a:prstGeom>
          <a:noFill/>
        </p:spPr>
        <p:txBody>
          <a:bodyPr wrap="square" lIns="22842" tIns="11421" rIns="22842" bIns="11421">
            <a:spAutoFit/>
          </a:bodyPr>
          <a:lstStyle/>
          <a:p>
            <a:pPr marL="0" marR="0" lvl="0" indent="0" algn="ctr" defTabSz="108747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Light" panose="020B0304030603020204" pitchFamily="34" charset="0"/>
                <a:ea typeface="+mn-ea"/>
                <a:cs typeface="+mn-cs"/>
              </a:rPr>
              <a:t>Pro-code and low-code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72 Brand Light" panose="020B03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41" name="Group 20">
            <a:extLst>
              <a:ext uri="{FF2B5EF4-FFF2-40B4-BE49-F238E27FC236}">
                <a16:creationId xmlns:a16="http://schemas.microsoft.com/office/drawing/2014/main" id="{CADA4E56-8EC1-C2A0-48D0-32239039DA85}"/>
              </a:ext>
            </a:extLst>
          </p:cNvPr>
          <p:cNvGrpSpPr/>
          <p:nvPr/>
        </p:nvGrpSpPr>
        <p:grpSpPr>
          <a:xfrm>
            <a:off x="557250" y="4249555"/>
            <a:ext cx="8776927" cy="701052"/>
            <a:chOff x="730431" y="4789621"/>
            <a:chExt cx="8779213" cy="701235"/>
          </a:xfrm>
          <a:solidFill>
            <a:srgbClr val="002A86"/>
          </a:solidFill>
        </p:grpSpPr>
        <p:sp>
          <p:nvSpPr>
            <p:cNvPr id="42" name="Rectangle: Rounded Corners 6">
              <a:extLst>
                <a:ext uri="{FF2B5EF4-FFF2-40B4-BE49-F238E27FC236}">
                  <a16:creationId xmlns:a16="http://schemas.microsoft.com/office/drawing/2014/main" id="{7502636D-1A97-0435-8A7F-8D4836AE1C79}"/>
                </a:ext>
              </a:extLst>
            </p:cNvPr>
            <p:cNvSpPr/>
            <p:nvPr/>
          </p:nvSpPr>
          <p:spPr bwMode="gray">
            <a:xfrm>
              <a:off x="5131274" y="4789621"/>
              <a:ext cx="4378370" cy="701235"/>
            </a:xfrm>
            <a:prstGeom prst="roundRect">
              <a:avLst>
                <a:gd name="adj" fmla="val 6625"/>
              </a:avLst>
            </a:prstGeom>
            <a:grpFill/>
            <a:ln w="15238" cap="flat">
              <a:noFill/>
              <a:prstDash val="solid"/>
              <a:miter/>
            </a:ln>
            <a:effectLst/>
          </p:spPr>
          <p:txBody>
            <a:bodyPr lIns="22842" tIns="11421" rIns="22842" bIns="11421" rtlCol="0" anchor="ctr"/>
            <a:lstStyle/>
            <a:p>
              <a:pPr marL="0" marR="0" lvl="0" indent="0" algn="l" defTabSz="10730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9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Rectangle: Rounded Corners 6">
              <a:extLst>
                <a:ext uri="{FF2B5EF4-FFF2-40B4-BE49-F238E27FC236}">
                  <a16:creationId xmlns:a16="http://schemas.microsoft.com/office/drawing/2014/main" id="{CD10C6B4-72BB-EB55-B877-46975D250A38}"/>
                </a:ext>
              </a:extLst>
            </p:cNvPr>
            <p:cNvSpPr/>
            <p:nvPr/>
          </p:nvSpPr>
          <p:spPr bwMode="gray">
            <a:xfrm>
              <a:off x="730431" y="4789621"/>
              <a:ext cx="4328749" cy="701235"/>
            </a:xfrm>
            <a:prstGeom prst="roundRect">
              <a:avLst>
                <a:gd name="adj" fmla="val 6625"/>
              </a:avLst>
            </a:prstGeom>
            <a:grpFill/>
            <a:ln w="15238" cap="flat">
              <a:noFill/>
              <a:prstDash val="solid"/>
              <a:miter/>
            </a:ln>
            <a:effectLst/>
          </p:spPr>
          <p:txBody>
            <a:bodyPr lIns="22842" tIns="11421" rIns="22842" bIns="11421" rtlCol="0" anchor="ctr"/>
            <a:lstStyle/>
            <a:p>
              <a:pPr marL="0" marR="0" lvl="0" indent="0" algn="ctr" defTabSz="9122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/>
                <a:ea typeface="+mn-ea"/>
                <a:cs typeface="+mn-cs"/>
              </a:endParaRPr>
            </a:p>
          </p:txBody>
        </p:sp>
        <p:sp>
          <p:nvSpPr>
            <p:cNvPr id="44" name="TextBox 1957">
              <a:extLst>
                <a:ext uri="{FF2B5EF4-FFF2-40B4-BE49-F238E27FC236}">
                  <a16:creationId xmlns:a16="http://schemas.microsoft.com/office/drawing/2014/main" id="{A4742C03-FC06-8392-026B-C0601268F545}"/>
                </a:ext>
              </a:extLst>
            </p:cNvPr>
            <p:cNvSpPr txBox="1"/>
            <p:nvPr/>
          </p:nvSpPr>
          <p:spPr>
            <a:xfrm>
              <a:off x="959408" y="5039092"/>
              <a:ext cx="793487" cy="193899"/>
            </a:xfrm>
            <a:prstGeom prst="rect">
              <a:avLst/>
            </a:prstGeom>
            <a:grp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73731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72 Brand Medium"/>
                  <a:ea typeface="72 Brand" pitchFamily="34" charset="-128"/>
                  <a:cs typeface="72 Brand" pitchFamily="34" charset="-128"/>
                </a:rPr>
                <a:t>AI copilot</a:t>
              </a:r>
            </a:p>
          </p:txBody>
        </p:sp>
        <p:sp>
          <p:nvSpPr>
            <p:cNvPr id="45" name="TextBox 1958">
              <a:extLst>
                <a:ext uri="{FF2B5EF4-FFF2-40B4-BE49-F238E27FC236}">
                  <a16:creationId xmlns:a16="http://schemas.microsoft.com/office/drawing/2014/main" id="{1B8766C9-118A-2774-208F-4478B1B4993C}"/>
                </a:ext>
              </a:extLst>
            </p:cNvPr>
            <p:cNvSpPr txBox="1"/>
            <p:nvPr/>
          </p:nvSpPr>
          <p:spPr>
            <a:xfrm>
              <a:off x="5400005" y="4954171"/>
              <a:ext cx="785471" cy="38779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073731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72 Brand Medium"/>
                  <a:ea typeface="72 Brand" pitchFamily="34" charset="-128"/>
                  <a:cs typeface="72 Brand" pitchFamily="34" charset="-128"/>
                </a:rPr>
                <a:t>Pre-built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72 Brand Medium"/>
                  <a:ea typeface="72 Brand" pitchFamily="34" charset="-128"/>
                  <a:cs typeface="72 Brand" pitchFamily="34" charset="-128"/>
                </a:rPr>
              </a:b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72 Brand Medium"/>
                  <a:ea typeface="72 Brand" pitchFamily="34" charset="-128"/>
                  <a:cs typeface="72 Brand" pitchFamily="34" charset="-128"/>
                </a:rPr>
                <a:t>solutions</a:t>
              </a:r>
            </a:p>
          </p:txBody>
        </p:sp>
        <p:sp>
          <p:nvSpPr>
            <p:cNvPr id="46" name="TextBox 1960">
              <a:extLst>
                <a:ext uri="{FF2B5EF4-FFF2-40B4-BE49-F238E27FC236}">
                  <a16:creationId xmlns:a16="http://schemas.microsoft.com/office/drawing/2014/main" id="{D44F54DA-1ACF-1684-42CA-1532F2AC330D}"/>
                </a:ext>
              </a:extLst>
            </p:cNvPr>
            <p:cNvSpPr txBox="1"/>
            <p:nvPr/>
          </p:nvSpPr>
          <p:spPr>
            <a:xfrm>
              <a:off x="1850637" y="5002616"/>
              <a:ext cx="3165036" cy="24622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ctr" defTabSz="9122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 Light" panose="020B0304030603020204" pitchFamily="34" charset="0"/>
                  <a:ea typeface="+mn-ea"/>
                  <a:cs typeface="+mn-cs"/>
                </a:rPr>
                <a:t>SAP proprietary models, contextual, partner ecosystem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Light" panose="020B0304030603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1962">
              <a:extLst>
                <a:ext uri="{FF2B5EF4-FFF2-40B4-BE49-F238E27FC236}">
                  <a16:creationId xmlns:a16="http://schemas.microsoft.com/office/drawing/2014/main" id="{807F6634-BCA4-CC8C-97D9-ACA2B4F86E3D}"/>
                </a:ext>
              </a:extLst>
            </p:cNvPr>
            <p:cNvSpPr txBox="1"/>
            <p:nvPr/>
          </p:nvSpPr>
          <p:spPr>
            <a:xfrm>
              <a:off x="6158346" y="4995257"/>
              <a:ext cx="3173428" cy="24622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0" indent="0" algn="ctr" defTabSz="108649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 Book" panose="020B0404030603020204" pitchFamily="34" charset="0"/>
                  <a:ea typeface="+mn-ea"/>
                  <a:cs typeface="+mn-cs"/>
                </a:rPr>
                <a:t>500+ finance, HCM, supply chain and beyond</a:t>
              </a:r>
            </a:p>
          </p:txBody>
        </p:sp>
      </p:grpSp>
      <p:grpSp>
        <p:nvGrpSpPr>
          <p:cNvPr id="48" name="Group 906">
            <a:extLst>
              <a:ext uri="{FF2B5EF4-FFF2-40B4-BE49-F238E27FC236}">
                <a16:creationId xmlns:a16="http://schemas.microsoft.com/office/drawing/2014/main" id="{9769D69B-E3EF-1ED5-195F-7CA4F6B96139}"/>
              </a:ext>
            </a:extLst>
          </p:cNvPr>
          <p:cNvGrpSpPr/>
          <p:nvPr/>
        </p:nvGrpSpPr>
        <p:grpSpPr>
          <a:xfrm rot="14522375">
            <a:off x="9014652" y="5479717"/>
            <a:ext cx="106471" cy="169337"/>
            <a:chOff x="1781040" y="3052066"/>
            <a:chExt cx="141719" cy="225394"/>
          </a:xfrm>
        </p:grpSpPr>
        <p:sp>
          <p:nvSpPr>
            <p:cNvPr id="49" name="Rectangle 907">
              <a:extLst>
                <a:ext uri="{FF2B5EF4-FFF2-40B4-BE49-F238E27FC236}">
                  <a16:creationId xmlns:a16="http://schemas.microsoft.com/office/drawing/2014/main" id="{40939CAF-80E3-F4A8-00C0-DA4521E4B25B}"/>
                </a:ext>
              </a:extLst>
            </p:cNvPr>
            <p:cNvSpPr/>
            <p:nvPr/>
          </p:nvSpPr>
          <p:spPr bwMode="gray">
            <a:xfrm rot="18025869">
              <a:off x="1803309" y="3093562"/>
              <a:ext cx="160946" cy="7795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50" name="Rectangle 157">
              <a:extLst>
                <a:ext uri="{FF2B5EF4-FFF2-40B4-BE49-F238E27FC236}">
                  <a16:creationId xmlns:a16="http://schemas.microsoft.com/office/drawing/2014/main" id="{7B08EEED-3CAD-741A-44A6-FE1B9EB5C476}"/>
                </a:ext>
              </a:extLst>
            </p:cNvPr>
            <p:cNvSpPr/>
            <p:nvPr/>
          </p:nvSpPr>
          <p:spPr bwMode="gray">
            <a:xfrm rot="15300000">
              <a:off x="1781040" y="3208041"/>
              <a:ext cx="69419" cy="69419"/>
            </a:xfrm>
            <a:custGeom>
              <a:avLst/>
              <a:gdLst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0 w 904351"/>
                <a:gd name="connsiteY4" fmla="*/ 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91440 w 904351"/>
                <a:gd name="connsiteY4" fmla="*/ 9144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0" fmla="*/ 904351 w 904351"/>
                <a:gd name="connsiteY0" fmla="*/ 0 h 904351"/>
                <a:gd name="connsiteX1" fmla="*/ 904351 w 904351"/>
                <a:gd name="connsiteY1" fmla="*/ 904351 h 904351"/>
                <a:gd name="connsiteX2" fmla="*/ 0 w 904351"/>
                <a:gd name="connsiteY2" fmla="*/ 904351 h 9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351" h="904351">
                  <a:moveTo>
                    <a:pt x="904351" y="0"/>
                  </a:moveTo>
                  <a:lnTo>
                    <a:pt x="904351" y="904351"/>
                  </a:lnTo>
                  <a:lnTo>
                    <a:pt x="0" y="904351"/>
                  </a:lnTo>
                </a:path>
              </a:pathLst>
            </a:custGeom>
            <a:noFill/>
            <a:ln w="11430" cap="rnd" algn="ctr">
              <a:gradFill>
                <a:gsLst>
                  <a:gs pos="0">
                    <a:srgbClr val="89D1FF"/>
                  </a:gs>
                  <a:gs pos="100000">
                    <a:srgbClr val="1B90FF"/>
                  </a:gs>
                </a:gsLst>
                <a:lin ang="5400000" scaled="1"/>
              </a:gradFill>
              <a:round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1" name="Rectangle 930">
            <a:extLst>
              <a:ext uri="{FF2B5EF4-FFF2-40B4-BE49-F238E27FC236}">
                <a16:creationId xmlns:a16="http://schemas.microsoft.com/office/drawing/2014/main" id="{811364D8-7A91-F97B-EE74-72C97447765F}"/>
              </a:ext>
            </a:extLst>
          </p:cNvPr>
          <p:cNvSpPr/>
          <p:nvPr/>
        </p:nvSpPr>
        <p:spPr bwMode="gray">
          <a:xfrm rot="5400000">
            <a:off x="9588072" y="3198674"/>
            <a:ext cx="120917" cy="5856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2" name="Rectangle 157">
            <a:extLst>
              <a:ext uri="{FF2B5EF4-FFF2-40B4-BE49-F238E27FC236}">
                <a16:creationId xmlns:a16="http://schemas.microsoft.com/office/drawing/2014/main" id="{AE518F4E-C2B6-6D13-27FA-D55AF094294E}"/>
              </a:ext>
            </a:extLst>
          </p:cNvPr>
          <p:cNvSpPr/>
          <p:nvPr/>
        </p:nvSpPr>
        <p:spPr bwMode="gray">
          <a:xfrm rot="2514581">
            <a:off x="9628880" y="3112889"/>
            <a:ext cx="52153" cy="52153"/>
          </a:xfrm>
          <a:custGeom>
            <a:avLst/>
            <a:gdLst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0 w 904351"/>
              <a:gd name="connsiteY4" fmla="*/ 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91440 w 904351"/>
              <a:gd name="connsiteY4" fmla="*/ 9144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0" fmla="*/ 904351 w 904351"/>
              <a:gd name="connsiteY0" fmla="*/ 0 h 904351"/>
              <a:gd name="connsiteX1" fmla="*/ 904351 w 904351"/>
              <a:gd name="connsiteY1" fmla="*/ 904351 h 904351"/>
              <a:gd name="connsiteX2" fmla="*/ 0 w 904351"/>
              <a:gd name="connsiteY2" fmla="*/ 904351 h 90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4351" h="904351">
                <a:moveTo>
                  <a:pt x="904351" y="0"/>
                </a:moveTo>
                <a:lnTo>
                  <a:pt x="904351" y="904351"/>
                </a:lnTo>
                <a:lnTo>
                  <a:pt x="0" y="904351"/>
                </a:lnTo>
              </a:path>
            </a:pathLst>
          </a:custGeom>
          <a:noFill/>
          <a:ln w="11430" cap="rnd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round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Rectangle 932">
            <a:extLst>
              <a:ext uri="{FF2B5EF4-FFF2-40B4-BE49-F238E27FC236}">
                <a16:creationId xmlns:a16="http://schemas.microsoft.com/office/drawing/2014/main" id="{3C15B41B-97AA-5F08-D87E-85DDD4CCF5C4}"/>
              </a:ext>
            </a:extLst>
          </p:cNvPr>
          <p:cNvSpPr/>
          <p:nvPr/>
        </p:nvSpPr>
        <p:spPr bwMode="gray">
          <a:xfrm rot="16107478">
            <a:off x="953203" y="5078804"/>
            <a:ext cx="120917" cy="5856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4" name="Rectangle 157">
            <a:extLst>
              <a:ext uri="{FF2B5EF4-FFF2-40B4-BE49-F238E27FC236}">
                <a16:creationId xmlns:a16="http://schemas.microsoft.com/office/drawing/2014/main" id="{EFCC994B-DE37-0826-080F-E9FCBA25FFEE}"/>
              </a:ext>
            </a:extLst>
          </p:cNvPr>
          <p:cNvSpPr/>
          <p:nvPr/>
        </p:nvSpPr>
        <p:spPr bwMode="gray">
          <a:xfrm rot="13381609">
            <a:off x="984370" y="5179596"/>
            <a:ext cx="52153" cy="52153"/>
          </a:xfrm>
          <a:custGeom>
            <a:avLst/>
            <a:gdLst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0 w 904351"/>
              <a:gd name="connsiteY4" fmla="*/ 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91440 w 904351"/>
              <a:gd name="connsiteY4" fmla="*/ 9144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0" fmla="*/ 904351 w 904351"/>
              <a:gd name="connsiteY0" fmla="*/ 0 h 904351"/>
              <a:gd name="connsiteX1" fmla="*/ 904351 w 904351"/>
              <a:gd name="connsiteY1" fmla="*/ 904351 h 904351"/>
              <a:gd name="connsiteX2" fmla="*/ 0 w 904351"/>
              <a:gd name="connsiteY2" fmla="*/ 904351 h 90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4351" h="904351">
                <a:moveTo>
                  <a:pt x="904351" y="0"/>
                </a:moveTo>
                <a:lnTo>
                  <a:pt x="904351" y="904351"/>
                </a:lnTo>
                <a:lnTo>
                  <a:pt x="0" y="904351"/>
                </a:lnTo>
              </a:path>
            </a:pathLst>
          </a:custGeom>
          <a:noFill/>
          <a:ln w="11430" cap="rnd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round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tangle 941">
            <a:extLst>
              <a:ext uri="{FF2B5EF4-FFF2-40B4-BE49-F238E27FC236}">
                <a16:creationId xmlns:a16="http://schemas.microsoft.com/office/drawing/2014/main" id="{17BFD0DD-D6B6-0C11-472D-5CB1E67BA207}"/>
              </a:ext>
            </a:extLst>
          </p:cNvPr>
          <p:cNvSpPr/>
          <p:nvPr/>
        </p:nvSpPr>
        <p:spPr bwMode="auto">
          <a:xfrm>
            <a:off x="9909605" y="4506679"/>
            <a:ext cx="1754077" cy="6923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/>
                <a:ea typeface="+mn-lt"/>
                <a:cs typeface="+mn-lt"/>
              </a:rPr>
              <a:t>Fully integrated</a:t>
            </a:r>
          </a:p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"/>
                <a:ea typeface="+mn-lt"/>
                <a:cs typeface="+mn-lt"/>
              </a:rPr>
              <a:t>with SAP Business Suite and non-SAP applications </a:t>
            </a:r>
          </a:p>
        </p:txBody>
      </p:sp>
      <p:grpSp>
        <p:nvGrpSpPr>
          <p:cNvPr id="56" name="Group 1825">
            <a:extLst>
              <a:ext uri="{FF2B5EF4-FFF2-40B4-BE49-F238E27FC236}">
                <a16:creationId xmlns:a16="http://schemas.microsoft.com/office/drawing/2014/main" id="{F3212777-601F-452B-1302-A8C326A38172}"/>
              </a:ext>
            </a:extLst>
          </p:cNvPr>
          <p:cNvGrpSpPr/>
          <p:nvPr/>
        </p:nvGrpSpPr>
        <p:grpSpPr>
          <a:xfrm>
            <a:off x="6031698" y="5396255"/>
            <a:ext cx="1437153" cy="328280"/>
            <a:chOff x="6541741" y="5481451"/>
            <a:chExt cx="1437527" cy="328365"/>
          </a:xfrm>
        </p:grpSpPr>
        <p:sp>
          <p:nvSpPr>
            <p:cNvPr id="57" name="Rectangle: Rounded Corners 29">
              <a:extLst>
                <a:ext uri="{FF2B5EF4-FFF2-40B4-BE49-F238E27FC236}">
                  <a16:creationId xmlns:a16="http://schemas.microsoft.com/office/drawing/2014/main" id="{C4421672-6EE4-6561-EA42-F0349AA4A02F}"/>
                </a:ext>
              </a:extLst>
            </p:cNvPr>
            <p:cNvSpPr/>
            <p:nvPr/>
          </p:nvSpPr>
          <p:spPr bwMode="auto">
            <a:xfrm>
              <a:off x="6541741" y="5481451"/>
              <a:ext cx="1437527" cy="328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BF8FF"/>
                </a:gs>
              </a:gsLst>
              <a:lin ang="2700000" scaled="1"/>
              <a:tileRect/>
            </a:gradFill>
            <a:ln w="12700"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098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B90FF">
                      <a:lumMod val="75000"/>
                    </a:srgbClr>
                  </a:soli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rPr>
                <a:t>Business AI</a:t>
              </a:r>
            </a:p>
          </p:txBody>
        </p:sp>
        <p:pic>
          <p:nvPicPr>
            <p:cNvPr id="58" name="Graphic 26">
              <a:extLst>
                <a:ext uri="{FF2B5EF4-FFF2-40B4-BE49-F238E27FC236}">
                  <a16:creationId xmlns:a16="http://schemas.microsoft.com/office/drawing/2014/main" id="{A6EF6038-81F5-410A-DFEB-340A3BE48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64588" y="5585530"/>
              <a:ext cx="139971" cy="139971"/>
            </a:xfrm>
            <a:prstGeom prst="rect">
              <a:avLst/>
            </a:prstGeom>
          </p:spPr>
        </p:pic>
      </p:grpSp>
      <p:grpSp>
        <p:nvGrpSpPr>
          <p:cNvPr id="59" name="Group 1826">
            <a:extLst>
              <a:ext uri="{FF2B5EF4-FFF2-40B4-BE49-F238E27FC236}">
                <a16:creationId xmlns:a16="http://schemas.microsoft.com/office/drawing/2014/main" id="{44D3D505-521A-237E-4397-8E0A338FC6C5}"/>
              </a:ext>
            </a:extLst>
          </p:cNvPr>
          <p:cNvGrpSpPr/>
          <p:nvPr/>
        </p:nvGrpSpPr>
        <p:grpSpPr>
          <a:xfrm>
            <a:off x="2619633" y="5387656"/>
            <a:ext cx="1437153" cy="328280"/>
            <a:chOff x="2038531" y="5481451"/>
            <a:chExt cx="1437527" cy="328365"/>
          </a:xfrm>
        </p:grpSpPr>
        <p:sp>
          <p:nvSpPr>
            <p:cNvPr id="60" name="Rectangle: Rounded Corners 29">
              <a:extLst>
                <a:ext uri="{FF2B5EF4-FFF2-40B4-BE49-F238E27FC236}">
                  <a16:creationId xmlns:a16="http://schemas.microsoft.com/office/drawing/2014/main" id="{6FA94FAC-2CE9-63DC-1439-378C8D15A755}"/>
                </a:ext>
              </a:extLst>
            </p:cNvPr>
            <p:cNvSpPr/>
            <p:nvPr/>
          </p:nvSpPr>
          <p:spPr bwMode="auto">
            <a:xfrm>
              <a:off x="2038531" y="5481451"/>
              <a:ext cx="1437527" cy="328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BF8FF"/>
                </a:gs>
              </a:gsLst>
              <a:lin ang="2700000" scaled="1"/>
              <a:tileRect/>
            </a:gradFill>
            <a:ln w="12700"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098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B90FF">
                      <a:lumMod val="75000"/>
                    </a:srgbClr>
                  </a:soli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rPr>
                <a:t>Apps</a:t>
              </a:r>
            </a:p>
          </p:txBody>
        </p:sp>
        <p:pic>
          <p:nvPicPr>
            <p:cNvPr id="61" name="Picture 27">
              <a:extLst>
                <a:ext uri="{FF2B5EF4-FFF2-40B4-BE49-F238E27FC236}">
                  <a16:creationId xmlns:a16="http://schemas.microsoft.com/office/drawing/2014/main" id="{6E08503B-5CDB-D8EC-D8F2-4DDE423F4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3722" y="5543312"/>
              <a:ext cx="198553" cy="224406"/>
            </a:xfrm>
            <a:prstGeom prst="rect">
              <a:avLst/>
            </a:prstGeom>
          </p:spPr>
        </p:pic>
      </p:grpSp>
      <p:grpSp>
        <p:nvGrpSpPr>
          <p:cNvPr id="62" name="Group 1824">
            <a:extLst>
              <a:ext uri="{FF2B5EF4-FFF2-40B4-BE49-F238E27FC236}">
                <a16:creationId xmlns:a16="http://schemas.microsoft.com/office/drawing/2014/main" id="{5BBEC268-B04F-CD88-6FA4-BC6E12087A23}"/>
              </a:ext>
            </a:extLst>
          </p:cNvPr>
          <p:cNvGrpSpPr/>
          <p:nvPr/>
        </p:nvGrpSpPr>
        <p:grpSpPr>
          <a:xfrm>
            <a:off x="4307963" y="5397535"/>
            <a:ext cx="1437153" cy="328280"/>
            <a:chOff x="4290136" y="5481451"/>
            <a:chExt cx="1437527" cy="328365"/>
          </a:xfrm>
        </p:grpSpPr>
        <p:sp>
          <p:nvSpPr>
            <p:cNvPr id="63" name="Rectangle: Rounded Corners 29">
              <a:extLst>
                <a:ext uri="{FF2B5EF4-FFF2-40B4-BE49-F238E27FC236}">
                  <a16:creationId xmlns:a16="http://schemas.microsoft.com/office/drawing/2014/main" id="{656CBF98-AEB5-61CE-3F8A-8760F10E5204}"/>
                </a:ext>
              </a:extLst>
            </p:cNvPr>
            <p:cNvSpPr/>
            <p:nvPr/>
          </p:nvSpPr>
          <p:spPr bwMode="auto">
            <a:xfrm>
              <a:off x="4290136" y="5481451"/>
              <a:ext cx="1437527" cy="328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BF8FF"/>
                </a:gs>
              </a:gsLst>
              <a:lin ang="2700000" scaled="1"/>
              <a:tileRect/>
            </a:gradFill>
            <a:ln w="12700"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098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B90FF">
                      <a:lumMod val="75000"/>
                    </a:srgbClr>
                  </a:soli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rPr>
                <a:t>Data</a:t>
              </a:r>
            </a:p>
          </p:txBody>
        </p:sp>
        <p:grpSp>
          <p:nvGrpSpPr>
            <p:cNvPr id="64" name="Group 1791">
              <a:extLst>
                <a:ext uri="{FF2B5EF4-FFF2-40B4-BE49-F238E27FC236}">
                  <a16:creationId xmlns:a16="http://schemas.microsoft.com/office/drawing/2014/main" id="{2FAD95B5-F05A-FD0E-02AF-C03494B93C61}"/>
                </a:ext>
              </a:extLst>
            </p:cNvPr>
            <p:cNvGrpSpPr/>
            <p:nvPr/>
          </p:nvGrpSpPr>
          <p:grpSpPr>
            <a:xfrm>
              <a:off x="4469221" y="5543307"/>
              <a:ext cx="266370" cy="214799"/>
              <a:chOff x="4756139" y="4619006"/>
              <a:chExt cx="1028699" cy="789874"/>
            </a:xfrm>
          </p:grpSpPr>
          <p:grpSp>
            <p:nvGrpSpPr>
              <p:cNvPr id="65" name="Group 1816">
                <a:extLst>
                  <a:ext uri="{FF2B5EF4-FFF2-40B4-BE49-F238E27FC236}">
                    <a16:creationId xmlns:a16="http://schemas.microsoft.com/office/drawing/2014/main" id="{D0803CD4-B5DD-FAFA-DF19-1C73D6A3053A}"/>
                  </a:ext>
                </a:extLst>
              </p:cNvPr>
              <p:cNvGrpSpPr/>
              <p:nvPr/>
            </p:nvGrpSpPr>
            <p:grpSpPr>
              <a:xfrm>
                <a:off x="4756139" y="4619006"/>
                <a:ext cx="1028699" cy="611027"/>
                <a:chOff x="4756139" y="4669012"/>
                <a:chExt cx="1028699" cy="611027"/>
              </a:xfrm>
            </p:grpSpPr>
            <p:sp>
              <p:nvSpPr>
                <p:cNvPr id="68" name="Rectangle: Rounded Corners 2162">
                  <a:extLst>
                    <a:ext uri="{FF2B5EF4-FFF2-40B4-BE49-F238E27FC236}">
                      <a16:creationId xmlns:a16="http://schemas.microsoft.com/office/drawing/2014/main" id="{0F082733-F46D-992A-7480-CF4F29B9507C}"/>
                    </a:ext>
                  </a:extLst>
                </p:cNvPr>
                <p:cNvSpPr/>
                <p:nvPr/>
              </p:nvSpPr>
              <p:spPr bwMode="gray">
                <a:xfrm>
                  <a:off x="4756139" y="4669012"/>
                  <a:ext cx="1028699" cy="611027"/>
                </a:xfrm>
                <a:prstGeom prst="roundRect">
                  <a:avLst>
                    <a:gd name="adj" fmla="val 6313"/>
                  </a:avLst>
                </a:prstGeom>
                <a:noFill/>
                <a:ln w="9525" algn="ctr">
                  <a:solidFill>
                    <a:srgbClr val="7858FF"/>
                  </a:solidFill>
                  <a:miter lim="800000"/>
                  <a:headEnd/>
                  <a:tailEnd/>
                </a:ln>
              </p:spPr>
              <p:txBody>
                <a:bodyPr lIns="182784" tIns="146228" rIns="182784" bIns="146228" rtlCol="0" anchor="t"/>
                <a:lstStyle/>
                <a:p>
                  <a:pPr marL="0" marR="0" lvl="0" indent="0" algn="l" defTabSz="913852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72 Brand" pitchFamily="34" charset="-128"/>
                    <a:cs typeface="72 Brand" pitchFamily="34" charset="-128"/>
                  </a:endParaRPr>
                </a:p>
              </p:txBody>
            </p:sp>
            <p:grpSp>
              <p:nvGrpSpPr>
                <p:cNvPr id="69" name="Group 1820">
                  <a:extLst>
                    <a:ext uri="{FF2B5EF4-FFF2-40B4-BE49-F238E27FC236}">
                      <a16:creationId xmlns:a16="http://schemas.microsoft.com/office/drawing/2014/main" id="{88CA8CF0-2507-1F24-F150-B9816D2B6638}"/>
                    </a:ext>
                  </a:extLst>
                </p:cNvPr>
                <p:cNvGrpSpPr/>
                <p:nvPr/>
              </p:nvGrpSpPr>
              <p:grpSpPr>
                <a:xfrm>
                  <a:off x="4793457" y="4714872"/>
                  <a:ext cx="954086" cy="526336"/>
                  <a:chOff x="-1072701" y="2965434"/>
                  <a:chExt cx="6955525" cy="2273300"/>
                </a:xfrm>
              </p:grpSpPr>
              <p:sp>
                <p:nvSpPr>
                  <p:cNvPr id="70" name="Rectangle 1821">
                    <a:extLst>
                      <a:ext uri="{FF2B5EF4-FFF2-40B4-BE49-F238E27FC236}">
                        <a16:creationId xmlns:a16="http://schemas.microsoft.com/office/drawing/2014/main" id="{5BB0DA6A-37E8-4924-1CDF-C20774E63B2B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-1072701" y="3727462"/>
                    <a:ext cx="6955525" cy="758820"/>
                  </a:xfrm>
                  <a:prstGeom prst="rect">
                    <a:avLst/>
                  </a:prstGeom>
                  <a:gradFill flip="none" rotWithShape="1">
                    <a:gsLst>
                      <a:gs pos="100000">
                        <a:srgbClr val="4DB1FF"/>
                      </a:gs>
                      <a:gs pos="0">
                        <a:srgbClr val="89D1FF"/>
                      </a:gs>
                    </a:gsLst>
                    <a:lin ang="2700000" scaled="1"/>
                    <a:tileRect/>
                  </a:gradFill>
                  <a:ln w="12700"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594" tIns="146076" rIns="182594" bIns="146076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1088776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98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00144A"/>
                          </a:gs>
                          <a:gs pos="100000">
                            <a:srgbClr val="00144A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72 Brand" panose="020B0504030603020204" pitchFamily="34" charset="0"/>
                      <a:ea typeface="+mn-ea"/>
                      <a:cs typeface="72" panose="020B0503030000000003" pitchFamily="34" charset="0"/>
                    </a:endParaRPr>
                  </a:p>
                </p:txBody>
              </p:sp>
              <p:sp>
                <p:nvSpPr>
                  <p:cNvPr id="71" name="Rectangle: Top Corners Rounded 2164">
                    <a:extLst>
                      <a:ext uri="{FF2B5EF4-FFF2-40B4-BE49-F238E27FC236}">
                        <a16:creationId xmlns:a16="http://schemas.microsoft.com/office/drawing/2014/main" id="{D81F119B-C9C0-9239-DB90-18B2509A71C4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-1072701" y="4476737"/>
                    <a:ext cx="6955525" cy="761997"/>
                  </a:xfrm>
                  <a:prstGeom prst="round2SameRect">
                    <a:avLst/>
                  </a:prstGeom>
                  <a:gradFill flip="none" rotWithShape="1">
                    <a:gsLst>
                      <a:gs pos="100000">
                        <a:srgbClr val="89D1FF"/>
                      </a:gs>
                      <a:gs pos="0">
                        <a:srgbClr val="A6E0FF"/>
                      </a:gs>
                    </a:gsLst>
                    <a:lin ang="18900000" scaled="1"/>
                    <a:tileRect/>
                  </a:gradFill>
                  <a:ln w="12700"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594" tIns="146076" rIns="182594" bIns="146076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1088776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98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00144A"/>
                          </a:gs>
                          <a:gs pos="100000">
                            <a:srgbClr val="00144A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72 Brand" panose="020B0504030603020204" pitchFamily="34" charset="0"/>
                      <a:ea typeface="+mn-ea"/>
                      <a:cs typeface="72" panose="020B0503030000000003" pitchFamily="34" charset="0"/>
                    </a:endParaRPr>
                  </a:p>
                </p:txBody>
              </p:sp>
              <p:sp>
                <p:nvSpPr>
                  <p:cNvPr id="72" name="Rectangle: Top Corners Rounded 2165">
                    <a:extLst>
                      <a:ext uri="{FF2B5EF4-FFF2-40B4-BE49-F238E27FC236}">
                        <a16:creationId xmlns:a16="http://schemas.microsoft.com/office/drawing/2014/main" id="{D4F79CC9-6523-9451-E24D-5E97B23FDE2F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-1072701" y="2965434"/>
                    <a:ext cx="6955525" cy="761997"/>
                  </a:xfrm>
                  <a:prstGeom prst="round2SameRect">
                    <a:avLst/>
                  </a:prstGeom>
                  <a:solidFill>
                    <a:srgbClr val="0070F2"/>
                  </a:solidFill>
                  <a:ln w="12700"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594" tIns="146076" rIns="182594" bIns="146076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1088776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98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00144A"/>
                          </a:gs>
                          <a:gs pos="100000">
                            <a:srgbClr val="00144A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72 Brand" panose="020B0504030603020204" pitchFamily="34" charset="0"/>
                      <a:ea typeface="+mn-ea"/>
                      <a:cs typeface="72" panose="020B0503030000000003" pitchFamily="34" charset="0"/>
                    </a:endParaRPr>
                  </a:p>
                </p:txBody>
              </p:sp>
            </p:grpSp>
          </p:grpSp>
          <p:sp>
            <p:nvSpPr>
              <p:cNvPr id="66" name="Rectangle: Rounded Corners 2172">
                <a:extLst>
                  <a:ext uri="{FF2B5EF4-FFF2-40B4-BE49-F238E27FC236}">
                    <a16:creationId xmlns:a16="http://schemas.microsoft.com/office/drawing/2014/main" id="{DA627E1C-364C-DA24-826C-177CBD67BCAB}"/>
                  </a:ext>
                </a:extLst>
              </p:cNvPr>
              <p:cNvSpPr/>
              <p:nvPr/>
            </p:nvSpPr>
            <p:spPr bwMode="gray">
              <a:xfrm>
                <a:off x="4890600" y="5286372"/>
                <a:ext cx="733911" cy="122508"/>
              </a:xfrm>
              <a:prstGeom prst="roundRect">
                <a:avLst>
                  <a:gd name="adj" fmla="val 12790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BF8FF"/>
                  </a:gs>
                </a:gsLst>
                <a:lin ang="2700000" scaled="1"/>
                <a:tileRect/>
              </a:gradFill>
              <a:ln w="12700">
                <a:noFill/>
                <a:headEnd type="none" w="med" len="med"/>
                <a:tailEnd type="none" w="med" len="med"/>
              </a:ln>
              <a:effectLst>
                <a:outerShdw blurRad="508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365380" tIns="146038" rIns="182546" bIns="14603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070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5D36FF"/>
                      </a:gs>
                      <a:gs pos="100000">
                        <a:srgbClr val="5D36FF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endParaRPr>
              </a:p>
            </p:txBody>
          </p:sp>
          <p:cxnSp>
            <p:nvCxnSpPr>
              <p:cNvPr id="67" name="Straight Connector 1818">
                <a:extLst>
                  <a:ext uri="{FF2B5EF4-FFF2-40B4-BE49-F238E27FC236}">
                    <a16:creationId xmlns:a16="http://schemas.microsoft.com/office/drawing/2014/main" id="{0CF53F24-F0E4-3086-329B-60FA2B20D1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5738" y="5222082"/>
                <a:ext cx="0" cy="133349"/>
              </a:xfrm>
              <a:prstGeom prst="line">
                <a:avLst/>
              </a:prstGeom>
              <a:ln w="9525">
                <a:gradFill flip="none" rotWithShape="1">
                  <a:gsLst>
                    <a:gs pos="0">
                      <a:srgbClr val="1B90FF">
                        <a:alpha val="0"/>
                      </a:srgbClr>
                    </a:gs>
                    <a:gs pos="85000">
                      <a:srgbClr val="1B90FF"/>
                    </a:gs>
                    <a:gs pos="19000">
                      <a:srgbClr val="1B90FF"/>
                    </a:gs>
                    <a:gs pos="100000">
                      <a:srgbClr val="1B90FF"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TextBox 895">
            <a:extLst>
              <a:ext uri="{FF2B5EF4-FFF2-40B4-BE49-F238E27FC236}">
                <a16:creationId xmlns:a16="http://schemas.microsoft.com/office/drawing/2014/main" id="{29A74F46-4C65-EF5C-A2F1-F15FB1240405}"/>
              </a:ext>
            </a:extLst>
          </p:cNvPr>
          <p:cNvSpPr txBox="1"/>
          <p:nvPr/>
        </p:nvSpPr>
        <p:spPr>
          <a:xfrm>
            <a:off x="3980371" y="2376990"/>
            <a:ext cx="2658620" cy="4800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073731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27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  <a:t>SAP Build</a:t>
            </a:r>
          </a:p>
        </p:txBody>
      </p:sp>
      <p:sp>
        <p:nvSpPr>
          <p:cNvPr id="74" name="TextBox 896">
            <a:extLst>
              <a:ext uri="{FF2B5EF4-FFF2-40B4-BE49-F238E27FC236}">
                <a16:creationId xmlns:a16="http://schemas.microsoft.com/office/drawing/2014/main" id="{BA91FEB3-5FE2-852F-9950-2217959B144F}"/>
              </a:ext>
            </a:extLst>
          </p:cNvPr>
          <p:cNvSpPr txBox="1"/>
          <p:nvPr/>
        </p:nvSpPr>
        <p:spPr>
          <a:xfrm>
            <a:off x="831903" y="3191553"/>
            <a:ext cx="1265417" cy="4430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73731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  <a:t>Unified</a:t>
            </a:r>
            <a:b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</a:b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  <a:t>solution</a:t>
            </a:r>
          </a:p>
        </p:txBody>
      </p:sp>
      <p:cxnSp>
        <p:nvCxnSpPr>
          <p:cNvPr id="75" name="Straight Connector 8">
            <a:extLst>
              <a:ext uri="{FF2B5EF4-FFF2-40B4-BE49-F238E27FC236}">
                <a16:creationId xmlns:a16="http://schemas.microsoft.com/office/drawing/2014/main" id="{B290BA33-0951-EE58-2585-691D87743B11}"/>
              </a:ext>
            </a:extLst>
          </p:cNvPr>
          <p:cNvCxnSpPr>
            <a:cxnSpLocks/>
          </p:cNvCxnSpPr>
          <p:nvPr/>
        </p:nvCxnSpPr>
        <p:spPr>
          <a:xfrm>
            <a:off x="9903647" y="3248087"/>
            <a:ext cx="1683055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bg1">
                    <a:lumMod val="75000"/>
                  </a:schemeClr>
                </a:gs>
                <a:gs pos="78000">
                  <a:schemeClr val="tx1">
                    <a:lumMod val="50000"/>
                    <a:lumOff val="50000"/>
                  </a:schemeClr>
                </a:gs>
                <a:gs pos="100000">
                  <a:schemeClr val="bg1"/>
                </a:gs>
              </a:gsLst>
              <a:lin ang="21594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2">
            <a:extLst>
              <a:ext uri="{FF2B5EF4-FFF2-40B4-BE49-F238E27FC236}">
                <a16:creationId xmlns:a16="http://schemas.microsoft.com/office/drawing/2014/main" id="{936CC96E-0F18-EEF1-87D1-851BE936B512}"/>
              </a:ext>
            </a:extLst>
          </p:cNvPr>
          <p:cNvCxnSpPr>
            <a:cxnSpLocks/>
          </p:cNvCxnSpPr>
          <p:nvPr/>
        </p:nvCxnSpPr>
        <p:spPr>
          <a:xfrm>
            <a:off x="9886717" y="4261098"/>
            <a:ext cx="1683055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bg1">
                    <a:lumMod val="75000"/>
                  </a:schemeClr>
                </a:gs>
                <a:gs pos="78000">
                  <a:schemeClr val="tx1">
                    <a:lumMod val="50000"/>
                    <a:lumOff val="50000"/>
                  </a:schemeClr>
                </a:gs>
                <a:gs pos="100000">
                  <a:schemeClr val="bg1"/>
                </a:gs>
              </a:gsLst>
              <a:lin ang="21594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30">
            <a:extLst>
              <a:ext uri="{FF2B5EF4-FFF2-40B4-BE49-F238E27FC236}">
                <a16:creationId xmlns:a16="http://schemas.microsoft.com/office/drawing/2014/main" id="{FE005E33-6DCB-B41E-9CE9-A876F72CA3B6}"/>
              </a:ext>
            </a:extLst>
          </p:cNvPr>
          <p:cNvGrpSpPr/>
          <p:nvPr/>
        </p:nvGrpSpPr>
        <p:grpSpPr>
          <a:xfrm rot="14522375">
            <a:off x="2204449" y="5486078"/>
            <a:ext cx="106471" cy="169337"/>
            <a:chOff x="1781040" y="3052066"/>
            <a:chExt cx="141719" cy="225394"/>
          </a:xfrm>
        </p:grpSpPr>
        <p:sp>
          <p:nvSpPr>
            <p:cNvPr id="78" name="Rectangle 31">
              <a:extLst>
                <a:ext uri="{FF2B5EF4-FFF2-40B4-BE49-F238E27FC236}">
                  <a16:creationId xmlns:a16="http://schemas.microsoft.com/office/drawing/2014/main" id="{AE719142-66A8-8BEB-B589-35EA4CAEC4A8}"/>
                </a:ext>
              </a:extLst>
            </p:cNvPr>
            <p:cNvSpPr/>
            <p:nvPr/>
          </p:nvSpPr>
          <p:spPr bwMode="gray">
            <a:xfrm rot="18025869">
              <a:off x="1803309" y="3093562"/>
              <a:ext cx="160946" cy="7795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79" name="Rectangle 157">
              <a:extLst>
                <a:ext uri="{FF2B5EF4-FFF2-40B4-BE49-F238E27FC236}">
                  <a16:creationId xmlns:a16="http://schemas.microsoft.com/office/drawing/2014/main" id="{E6911952-C3C6-C071-801D-DC9D205CC7B3}"/>
                </a:ext>
              </a:extLst>
            </p:cNvPr>
            <p:cNvSpPr/>
            <p:nvPr/>
          </p:nvSpPr>
          <p:spPr bwMode="gray">
            <a:xfrm rot="15300000">
              <a:off x="1781040" y="3208041"/>
              <a:ext cx="69419" cy="69419"/>
            </a:xfrm>
            <a:custGeom>
              <a:avLst/>
              <a:gdLst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0 w 904351"/>
                <a:gd name="connsiteY4" fmla="*/ 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91440 w 904351"/>
                <a:gd name="connsiteY4" fmla="*/ 9144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0" fmla="*/ 904351 w 904351"/>
                <a:gd name="connsiteY0" fmla="*/ 0 h 904351"/>
                <a:gd name="connsiteX1" fmla="*/ 904351 w 904351"/>
                <a:gd name="connsiteY1" fmla="*/ 904351 h 904351"/>
                <a:gd name="connsiteX2" fmla="*/ 0 w 904351"/>
                <a:gd name="connsiteY2" fmla="*/ 904351 h 9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351" h="904351">
                  <a:moveTo>
                    <a:pt x="904351" y="0"/>
                  </a:moveTo>
                  <a:lnTo>
                    <a:pt x="904351" y="904351"/>
                  </a:lnTo>
                  <a:lnTo>
                    <a:pt x="0" y="904351"/>
                  </a:lnTo>
                </a:path>
              </a:pathLst>
            </a:custGeom>
            <a:noFill/>
            <a:ln w="11430" cap="rnd" algn="ctr">
              <a:gradFill>
                <a:gsLst>
                  <a:gs pos="0">
                    <a:srgbClr val="89D1FF"/>
                  </a:gs>
                  <a:gs pos="100000">
                    <a:srgbClr val="1B90FF"/>
                  </a:gs>
                </a:gsLst>
                <a:lin ang="5400000" scaled="1"/>
              </a:gradFill>
              <a:round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1" name="TextBox 16">
            <a:extLst>
              <a:ext uri="{FF2B5EF4-FFF2-40B4-BE49-F238E27FC236}">
                <a16:creationId xmlns:a16="http://schemas.microsoft.com/office/drawing/2014/main" id="{2E3C26BF-AB9F-5CFD-80CD-8357B2790F21}"/>
              </a:ext>
            </a:extLst>
          </p:cNvPr>
          <p:cNvSpPr txBox="1"/>
          <p:nvPr/>
        </p:nvSpPr>
        <p:spPr>
          <a:xfrm>
            <a:off x="566327" y="1565380"/>
            <a:ext cx="6259699" cy="215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1087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 where your business lives, in the context of your applications, data and AI.</a:t>
            </a:r>
          </a:p>
        </p:txBody>
      </p:sp>
      <p:sp>
        <p:nvSpPr>
          <p:cNvPr id="4" name="Rectangle 939">
            <a:extLst>
              <a:ext uri="{FF2B5EF4-FFF2-40B4-BE49-F238E27FC236}">
                <a16:creationId xmlns:a16="http://schemas.microsoft.com/office/drawing/2014/main" id="{4E47BDA4-3C87-E412-12D0-14C127DB9F52}"/>
              </a:ext>
            </a:extLst>
          </p:cNvPr>
          <p:cNvSpPr/>
          <p:nvPr/>
        </p:nvSpPr>
        <p:spPr bwMode="auto">
          <a:xfrm>
            <a:off x="9903647" y="2494808"/>
            <a:ext cx="2043291" cy="50769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1087144">
              <a:spcAft>
                <a:spcPts val="600"/>
              </a:spcAft>
              <a:defRPr/>
            </a:pPr>
            <a:r>
              <a:rPr lang="en-US" sz="1600" dirty="0"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latin typeface="72 Brand Medium" panose="020B0504030603020204" pitchFamily="34" charset="0"/>
                <a:ea typeface="+mn-lt"/>
                <a:cs typeface="+mn-lt"/>
              </a:rPr>
              <a:t>Start quickly</a:t>
            </a:r>
          </a:p>
          <a:p>
            <a:pPr marL="0" marR="0" lvl="0" indent="0" algn="l" defTabSz="1087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72 Brand" panose="020B0504030603020204" pitchFamily="34" charset="0"/>
                <a:cs typeface="72"/>
              </a:rPr>
              <a:t>with AI and prebuilt solutions</a:t>
            </a:r>
          </a:p>
        </p:txBody>
      </p:sp>
      <p:sp>
        <p:nvSpPr>
          <p:cNvPr id="80" name="Rectangle 940">
            <a:extLst>
              <a:ext uri="{FF2B5EF4-FFF2-40B4-BE49-F238E27FC236}">
                <a16:creationId xmlns:a16="http://schemas.microsoft.com/office/drawing/2014/main" id="{C10081CE-6804-7927-725E-F0E2500544BE}"/>
              </a:ext>
            </a:extLst>
          </p:cNvPr>
          <p:cNvSpPr/>
          <p:nvPr/>
        </p:nvSpPr>
        <p:spPr bwMode="auto">
          <a:xfrm>
            <a:off x="9903647" y="3493668"/>
            <a:ext cx="2367544" cy="6923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 panose="020B0504030603020204" pitchFamily="34" charset="0"/>
                <a:ea typeface="+mn-lt"/>
                <a:cs typeface="+mn-lt"/>
              </a:rPr>
              <a:t>Deliver faster</a:t>
            </a:r>
          </a:p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44A"/>
                    </a:gs>
                    <a:gs pos="100000">
                      <a:srgbClr val="00144A"/>
                    </a:gs>
                  </a:gsLst>
                  <a:lin ang="2700000" scaled="1"/>
                </a:gradFill>
                <a:effectLst/>
                <a:uLnTx/>
                <a:uFillTx/>
                <a:latin typeface="72 Brand"/>
                <a:ea typeface="+mn-ea"/>
                <a:cs typeface="72"/>
              </a:rPr>
              <a:t>with tools for every role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"/>
                <a:ea typeface="+mn-lt"/>
                <a:cs typeface="+mn-lt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0000"/>
                  </a:gs>
                  <a:gs pos="100000">
                    <a:srgbClr val="00144A"/>
                  </a:gs>
                </a:gsLst>
                <a:lin ang="5400000" scaled="1"/>
              </a:gradFill>
              <a:effectLst/>
              <a:uLnTx/>
              <a:uFillTx/>
              <a:latin typeface="72 Brand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031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5CA222-DB68-6C5F-6BDF-AE7F031AC5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noProof="1"/>
              <a:t>SAPUI5 is SAP‘s standard UI Framework of Choice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04195912-7332-1A38-D9AC-D664A831EF59}"/>
              </a:ext>
            </a:extLst>
          </p:cNvPr>
          <p:cNvSpPr txBox="1"/>
          <p:nvPr/>
        </p:nvSpPr>
        <p:spPr>
          <a:xfrm>
            <a:off x="503237" y="1803112"/>
            <a:ext cx="2880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002A86"/>
                </a:solidFill>
                <a:ea typeface="Arial Unicode MS" pitchFamily="34" charset="-128"/>
                <a:cs typeface="Arial Unicode MS" pitchFamily="34" charset="-128"/>
              </a:rPr>
              <a:t>Consistent UX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7EFAD-80DA-F9E8-EA6A-5734D63A69A6}"/>
              </a:ext>
            </a:extLst>
          </p:cNvPr>
          <p:cNvSpPr txBox="1"/>
          <p:nvPr/>
        </p:nvSpPr>
        <p:spPr>
          <a:xfrm>
            <a:off x="503236" y="2361050"/>
            <a:ext cx="28800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SAPUI5 enables the SAP Fiori design evolution across SAP solutions (and beyond).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6E36AB06-33ED-9A57-540D-535236E7E7AB}"/>
              </a:ext>
            </a:extLst>
          </p:cNvPr>
          <p:cNvSpPr txBox="1"/>
          <p:nvPr/>
        </p:nvSpPr>
        <p:spPr>
          <a:xfrm>
            <a:off x="503237" y="4023043"/>
            <a:ext cx="196367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002A86"/>
                </a:solidFill>
                <a:ea typeface="Arial Unicode MS" pitchFamily="34" charset="-128"/>
                <a:cs typeface="Arial Unicode MS" pitchFamily="34" charset="-128"/>
              </a:rPr>
              <a:t>Flexible tools</a:t>
            </a: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FA00BCA3-C918-8618-2BE6-18BE6D5F24F8}"/>
              </a:ext>
            </a:extLst>
          </p:cNvPr>
          <p:cNvSpPr txBox="1"/>
          <p:nvPr/>
        </p:nvSpPr>
        <p:spPr>
          <a:xfrm>
            <a:off x="503237" y="4580981"/>
            <a:ext cx="288000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for any developer: SAPUI5 comes with tools to efficiently build, test, and deploy apps, including SAP Build Code.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B2C08937-B2E2-8E8B-62AB-9F0B758FA62E}"/>
              </a:ext>
            </a:extLst>
          </p:cNvPr>
          <p:cNvSpPr txBox="1"/>
          <p:nvPr/>
        </p:nvSpPr>
        <p:spPr>
          <a:xfrm>
            <a:off x="4312973" y="1803112"/>
            <a:ext cx="207108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0070F2"/>
                </a:solidFill>
                <a:ea typeface="Arial Unicode MS" pitchFamily="34" charset="-128"/>
                <a:cs typeface="Arial Unicode MS" pitchFamily="34" charset="-128"/>
              </a:rPr>
              <a:t>Use anywhere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51752CEB-6C1F-32FE-63BF-70E0E9EF7D34}"/>
              </a:ext>
            </a:extLst>
          </p:cNvPr>
          <p:cNvSpPr txBox="1"/>
          <p:nvPr/>
        </p:nvSpPr>
        <p:spPr>
          <a:xfrm>
            <a:off x="4312971" y="2361050"/>
            <a:ext cx="30351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SAPUI5 allows single, responsive app implementations for all browsers, platforms, and devices.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730132DF-157F-F448-2893-7E0B219AD5B7}"/>
              </a:ext>
            </a:extLst>
          </p:cNvPr>
          <p:cNvSpPr txBox="1"/>
          <p:nvPr/>
        </p:nvSpPr>
        <p:spPr>
          <a:xfrm>
            <a:off x="4312973" y="4023043"/>
            <a:ext cx="172483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0070F2"/>
                </a:solidFill>
                <a:ea typeface="Arial Unicode MS" pitchFamily="34" charset="-128"/>
                <a:cs typeface="Arial Unicode MS" pitchFamily="34" charset="-128"/>
              </a:rPr>
              <a:t>Innovations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FE51715A-FF94-65F0-3592-41ED7890A1E7}"/>
              </a:ext>
            </a:extLst>
          </p:cNvPr>
          <p:cNvSpPr txBox="1"/>
          <p:nvPr/>
        </p:nvSpPr>
        <p:spPr>
          <a:xfrm>
            <a:off x="4312972" y="4580981"/>
            <a:ext cx="303517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SAPUI5 brings a clear separation of apps and framework to centrally innovate while staying upgrade-compatible. 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6D5CF7D5-64EB-CBD7-74AF-61BA0D7F1386}"/>
              </a:ext>
            </a:extLst>
          </p:cNvPr>
          <p:cNvSpPr txBox="1"/>
          <p:nvPr/>
        </p:nvSpPr>
        <p:spPr>
          <a:xfrm>
            <a:off x="8122708" y="1803112"/>
            <a:ext cx="36545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89D1FF"/>
                </a:solidFill>
                <a:ea typeface="Arial Unicode MS" pitchFamily="34" charset="-128"/>
                <a:cs typeface="Arial Unicode MS" pitchFamily="34" charset="-128"/>
              </a:rPr>
              <a:t>Enterprise UI elements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A10663B9-5B3F-F9ED-B023-B30DB2A7574D}"/>
              </a:ext>
            </a:extLst>
          </p:cNvPr>
          <p:cNvSpPr txBox="1"/>
          <p:nvPr/>
        </p:nvSpPr>
        <p:spPr>
          <a:xfrm>
            <a:off x="8122708" y="2361050"/>
            <a:ext cx="28800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and UI integration cards to build professional UIs, SAP Web Components to cover all Web technology stacks.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77B6C85-FBE0-BA15-7A22-219FB870F387}"/>
              </a:ext>
            </a:extLst>
          </p:cNvPr>
          <p:cNvSpPr txBox="1"/>
          <p:nvPr/>
        </p:nvSpPr>
        <p:spPr>
          <a:xfrm>
            <a:off x="8122710" y="4023043"/>
            <a:ext cx="31850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1">
                <a:solidFill>
                  <a:srgbClr val="89D1FF"/>
                </a:solidFill>
                <a:ea typeface="Arial Unicode MS" pitchFamily="34" charset="-128"/>
                <a:cs typeface="Arial Unicode MS" pitchFamily="34" charset="-128"/>
              </a:rPr>
              <a:t>Powerful extensibility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453AA2DD-9D69-0273-6F03-9530E0B541CE}"/>
              </a:ext>
            </a:extLst>
          </p:cNvPr>
          <p:cNvSpPr txBox="1"/>
          <p:nvPr/>
        </p:nvSpPr>
        <p:spPr>
          <a:xfrm>
            <a:off x="8122709" y="4580981"/>
            <a:ext cx="318506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noProof="1"/>
              <a:t>Customers/partners can adapt SAP standard apps and customize UIs with/without coding.</a:t>
            </a:r>
            <a:endParaRPr lang="en-US" sz="1600" kern="0" noProof="1"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658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>
            <a:extLst>
              <a:ext uri="{FF2B5EF4-FFF2-40B4-BE49-F238E27FC236}">
                <a16:creationId xmlns:a16="http://schemas.microsoft.com/office/drawing/2014/main" id="{13EBFE13-5386-878A-C872-66622730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29" r="5566" b="7814"/>
          <a:stretch>
            <a:fillRect/>
          </a:stretch>
        </p:blipFill>
        <p:spPr>
          <a:xfrm>
            <a:off x="3872964" y="1514474"/>
            <a:ext cx="8071386" cy="45434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39DB9519-3E4C-762B-7E3A-2AE241B41DCD}"/>
              </a:ext>
            </a:extLst>
          </p:cNvPr>
          <p:cNvSpPr txBox="1"/>
          <p:nvPr/>
        </p:nvSpPr>
        <p:spPr>
          <a:xfrm>
            <a:off x="5351593" y="1928825"/>
            <a:ext cx="4446478" cy="35420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7972" tIns="107972" rIns="107972" bIns="107972" rtlCol="0">
            <a:spAutoFit/>
          </a:bodyPr>
          <a:lstStyle/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var 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someNumber</a:t>
            </a: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: number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var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otherNumber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function square(x</a:t>
            </a: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: number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  return x * x;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solidFill>
                <a:srgbClr val="2CE0BF"/>
              </a:solidFill>
              <a:latin typeface="Consolas" panose="020B0609020204030204" pitchFamily="49" charset="0"/>
            </a:endParaRP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type Point = {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  x: number;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  y: number;</a:t>
            </a:r>
          </a:p>
          <a:p>
            <a:pPr defTabSz="9128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rgbClr val="0070F2"/>
                </a:solidFill>
                <a:latin typeface="Consolas" panose="020B0609020204030204" pitchFamily="49" charset="0"/>
              </a:rPr>
              <a:t>};</a:t>
            </a:r>
            <a:endParaRPr lang="en-US" sz="1800" b="1" i="1" dirty="0">
              <a:solidFill>
                <a:srgbClr val="0070F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736E43F7-97BE-3101-36F3-34E9EC48A05B}"/>
              </a:ext>
            </a:extLst>
          </p:cNvPr>
          <p:cNvSpPr txBox="1"/>
          <p:nvPr/>
        </p:nvSpPr>
        <p:spPr>
          <a:xfrm>
            <a:off x="504001" y="2076110"/>
            <a:ext cx="3238152" cy="3290368"/>
          </a:xfrm>
          <a:prstGeom prst="roundRect">
            <a:avLst>
              <a:gd name="adj" fmla="val 52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640" rtlCol="0" anchor="ctr" anchorCtr="0">
            <a:noAutofit/>
          </a:bodyPr>
          <a:lstStyle/>
          <a:p>
            <a:pPr marL="0" marR="0" lvl="0" indent="0" algn="ctr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1A2733"/>
              </a:solidFill>
              <a:effectLst/>
              <a:uLnTx/>
              <a:uFillTx/>
              <a:latin typeface="72 Brand Book" panose="020B0404030603020204" pitchFamily="34" charset="0"/>
              <a:ea typeface="+mn-ea"/>
              <a:cs typeface="72" panose="020B0503030000000003" pitchFamily="34" charset="0"/>
            </a:endParaRPr>
          </a:p>
        </p:txBody>
      </p:sp>
      <p:sp>
        <p:nvSpPr>
          <p:cNvPr id="14" name="Round Same Side Corner Rectangle 99">
            <a:extLst>
              <a:ext uri="{FF2B5EF4-FFF2-40B4-BE49-F238E27FC236}">
                <a16:creationId xmlns:a16="http://schemas.microsoft.com/office/drawing/2014/main" id="{D89BA72E-E858-7A9E-30C9-4C2BE7B6DAA0}"/>
              </a:ext>
            </a:extLst>
          </p:cNvPr>
          <p:cNvSpPr/>
          <p:nvPr/>
        </p:nvSpPr>
        <p:spPr bwMode="gray">
          <a:xfrm>
            <a:off x="519060" y="2076109"/>
            <a:ext cx="3225799" cy="698951"/>
          </a:xfrm>
          <a:prstGeom prst="round2SameRect">
            <a:avLst>
              <a:gd name="adj1" fmla="val 29824"/>
              <a:gd name="adj2" fmla="val 0"/>
            </a:avLst>
          </a:prstGeom>
          <a:solidFill>
            <a:srgbClr val="00144A"/>
          </a:solidFill>
          <a:ln w="25400" algn="ctr">
            <a:solidFill>
              <a:srgbClr val="002A86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79A34F5-8A2F-06A4-6858-A7150780467D}"/>
              </a:ext>
            </a:extLst>
          </p:cNvPr>
          <p:cNvSpPr txBox="1"/>
          <p:nvPr/>
        </p:nvSpPr>
        <p:spPr>
          <a:xfrm>
            <a:off x="1116674" y="2238155"/>
            <a:ext cx="2522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B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72" panose="020B0503030000000003" pitchFamily="34" charset="0"/>
              </a:rPr>
              <a:t>enefits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72" panose="020B0503030000000003" pitchFamily="34" charset="0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AB0F7480-2ABE-2393-DE0C-6119EEC36DF3}"/>
              </a:ext>
            </a:extLst>
          </p:cNvPr>
          <p:cNvSpPr txBox="1"/>
          <p:nvPr/>
        </p:nvSpPr>
        <p:spPr>
          <a:xfrm>
            <a:off x="519060" y="2799076"/>
            <a:ext cx="3238153" cy="2567402"/>
          </a:xfrm>
          <a:prstGeom prst="rect">
            <a:avLst/>
          </a:prstGeom>
          <a:noFill/>
        </p:spPr>
        <p:txBody>
          <a:bodyPr wrap="square" lIns="182880" tIns="0" rIns="0" bIns="0" rtlCol="0" anchor="ctr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None/>
            </a:pPr>
            <a:r>
              <a:rPr lang="en-US" sz="1600" dirty="0">
                <a:latin typeface="72 Brand" panose="020B0504030603020204" pitchFamily="34" charset="0"/>
                <a:cs typeface="Arial"/>
              </a:rPr>
              <a:t>Code completion</a:t>
            </a:r>
          </a:p>
          <a:p>
            <a:pPr marL="0" lvl="1">
              <a:buNone/>
            </a:pPr>
            <a:endParaRPr lang="en-US" sz="1600" dirty="0">
              <a:latin typeface="72 Brand" panose="020B0504030603020204" pitchFamily="34" charset="0"/>
              <a:cs typeface="Arial"/>
            </a:endParaRPr>
          </a:p>
          <a:p>
            <a:pPr marL="0" lvl="1">
              <a:buNone/>
            </a:pPr>
            <a:r>
              <a:rPr lang="en-US" sz="1600" dirty="0">
                <a:latin typeface="72 Brand" panose="020B0504030603020204" pitchFamily="34" charset="0"/>
                <a:cs typeface="Arial"/>
              </a:rPr>
              <a:t>Error messages while you code</a:t>
            </a:r>
          </a:p>
          <a:p>
            <a:pPr marL="0" lvl="1">
              <a:buNone/>
            </a:pPr>
            <a:endParaRPr lang="en-US" sz="1600" dirty="0">
              <a:latin typeface="72 Brand" panose="020B0504030603020204" pitchFamily="34" charset="0"/>
              <a:cs typeface="Arial"/>
            </a:endParaRPr>
          </a:p>
          <a:p>
            <a:pPr marL="0" lvl="1">
              <a:buNone/>
            </a:pPr>
            <a:r>
              <a:rPr lang="en-US" sz="1600" dirty="0">
                <a:latin typeface="72 Brand" panose="020B0504030603020204" pitchFamily="34" charset="0"/>
                <a:cs typeface="Arial"/>
              </a:rPr>
              <a:t>In-place API reference</a:t>
            </a:r>
          </a:p>
          <a:p>
            <a:pPr marL="0" lvl="1">
              <a:buNone/>
            </a:pPr>
            <a:endParaRPr lang="en-US" sz="1600" dirty="0">
              <a:latin typeface="72 Brand" panose="020B0504030603020204" pitchFamily="34" charset="0"/>
              <a:cs typeface="Arial"/>
            </a:endParaRPr>
          </a:p>
          <a:p>
            <a:pPr marL="0" lvl="1">
              <a:buNone/>
            </a:pPr>
            <a:r>
              <a:rPr lang="en-US" sz="1600" dirty="0">
                <a:latin typeface="72 Brand" panose="020B0504030603020204" pitchFamily="34" charset="0"/>
                <a:cs typeface="Arial"/>
              </a:rPr>
              <a:t>Easier refactoring</a:t>
            </a:r>
            <a:br>
              <a:rPr lang="en-US" sz="1600" dirty="0">
                <a:latin typeface="72 Brand" panose="020B0504030603020204" pitchFamily="34" charset="0"/>
                <a:cs typeface="Arial"/>
              </a:rPr>
            </a:br>
            <a:r>
              <a:rPr lang="en-US" sz="1600" dirty="0">
                <a:latin typeface="72 Brand" panose="020B0504030603020204" pitchFamily="34" charset="0"/>
                <a:cs typeface="Arial"/>
              </a:rPr>
              <a:t>and maintenance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D8B8235-BA80-BD69-38F6-4428BE7931AC}"/>
              </a:ext>
            </a:extLst>
          </p:cNvPr>
          <p:cNvSpPr txBox="1"/>
          <p:nvPr/>
        </p:nvSpPr>
        <p:spPr>
          <a:xfrm>
            <a:off x="512424" y="2076110"/>
            <a:ext cx="3238152" cy="3290368"/>
          </a:xfrm>
          <a:prstGeom prst="roundRect">
            <a:avLst>
              <a:gd name="adj" fmla="val 5289"/>
            </a:avLst>
          </a:prstGeom>
          <a:noFill/>
          <a:ln>
            <a:solidFill>
              <a:srgbClr val="002A8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640" rtlCol="0" anchor="ctr" anchorCtr="0">
            <a:noAutofit/>
          </a:bodyPr>
          <a:lstStyle/>
          <a:p>
            <a:pPr marL="0" marR="0" lvl="0" indent="0" algn="ctr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1A2733"/>
              </a:solidFill>
              <a:effectLst/>
              <a:uLnTx/>
              <a:uFillTx/>
              <a:latin typeface="72 Brand Book" panose="020B0404030603020204" pitchFamily="34" charset="0"/>
              <a:ea typeface="+mn-ea"/>
              <a:cs typeface="72" panose="020B0503030000000003" pitchFamily="34" charset="0"/>
            </a:endParaRPr>
          </a:p>
        </p:txBody>
      </p:sp>
      <p:pic>
        <p:nvPicPr>
          <p:cNvPr id="18" name="Picture 12" descr="A white thumb up symbol&#10;&#10;Description automatically generated">
            <a:extLst>
              <a:ext uri="{FF2B5EF4-FFF2-40B4-BE49-F238E27FC236}">
                <a16:creationId xmlns:a16="http://schemas.microsoft.com/office/drawing/2014/main" id="{DE961556-30EA-1C10-F403-66400BD4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36" y="2250927"/>
            <a:ext cx="293112" cy="293112"/>
          </a:xfrm>
          <a:prstGeom prst="rect">
            <a:avLst/>
          </a:prstGeom>
        </p:spPr>
      </p:pic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8B41028B-3EDD-EB74-050B-D05A2BCF9FFC}"/>
              </a:ext>
            </a:extLst>
          </p:cNvPr>
          <p:cNvSpPr txBox="1">
            <a:spLocks/>
          </p:cNvSpPr>
          <p:nvPr/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457189" indent="-457189" algn="l" defTabSz="916494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8C"/>
              </a:buClr>
              <a:buFont typeface="Wingdings" pitchFamily="2" charset="2"/>
              <a:defRPr sz="2400" b="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82588" indent="-239178" algn="r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400">
                <a:solidFill>
                  <a:srgbClr val="DE7008"/>
                </a:solidFill>
                <a:latin typeface="+mj-lt"/>
              </a:defRPr>
            </a:lvl2pPr>
            <a:lvl3pPr marL="956709" indent="-237061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rgbClr val="DE7008"/>
                </a:solidFill>
                <a:latin typeface="+mj-lt"/>
              </a:defRPr>
            </a:lvl3pPr>
            <a:lvl4pPr marL="2357908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400">
                <a:solidFill>
                  <a:srgbClr val="DE7008"/>
                </a:solidFill>
                <a:latin typeface="+mj-lt"/>
              </a:defRPr>
            </a:lvl4pPr>
            <a:lvl5pPr marL="2973843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2400">
                <a:solidFill>
                  <a:srgbClr val="DE7008"/>
                </a:solidFill>
                <a:latin typeface="+mj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r>
              <a:rPr lang="en-US" sz="2000" kern="0" dirty="0"/>
              <a:t>TypeScript = </a:t>
            </a:r>
            <a:r>
              <a:rPr lang="en-US" sz="2000" kern="0" dirty="0" err="1"/>
              <a:t>Javascript</a:t>
            </a:r>
            <a:r>
              <a:rPr lang="en-US" sz="2000" kern="0" dirty="0"/>
              <a:t> + Types</a:t>
            </a:r>
          </a:p>
        </p:txBody>
      </p:sp>
    </p:spTree>
    <p:extLst>
      <p:ext uri="{BB962C8B-B14F-4D97-AF65-F5344CB8AC3E}">
        <p14:creationId xmlns:p14="http://schemas.microsoft.com/office/powerpoint/2010/main" val="380854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4">
            <a:extLst>
              <a:ext uri="{FF2B5EF4-FFF2-40B4-BE49-F238E27FC236}">
                <a16:creationId xmlns:a16="http://schemas.microsoft.com/office/drawing/2014/main" id="{53D9CD1C-5F31-DC9B-FF2D-6873ABAE8608}"/>
              </a:ext>
            </a:extLst>
          </p:cNvPr>
          <p:cNvGrpSpPr/>
          <p:nvPr/>
        </p:nvGrpSpPr>
        <p:grpSpPr>
          <a:xfrm>
            <a:off x="1554739" y="3199892"/>
            <a:ext cx="7941644" cy="2171621"/>
            <a:chOff x="2828009" y="3199892"/>
            <a:chExt cx="6668374" cy="2171621"/>
          </a:xfrm>
        </p:grpSpPr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E341016E-1130-14E6-AE1F-AF6114665988}"/>
                </a:ext>
              </a:extLst>
            </p:cNvPr>
            <p:cNvSpPr/>
            <p:nvPr/>
          </p:nvSpPr>
          <p:spPr bwMode="gray">
            <a:xfrm>
              <a:off x="2828009" y="3199892"/>
              <a:ext cx="900000" cy="2171621"/>
            </a:xfrm>
            <a:prstGeom prst="roundRect">
              <a:avLst/>
            </a:prstGeom>
            <a:solidFill>
              <a:srgbClr val="89D1FF">
                <a:alpha val="80000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en-US" sz="1600" dirty="0">
                <a:latin typeface="72 Brand Medium" panose="020B0604030603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6" name="Rectangle: Rounded Corners 10">
              <a:extLst>
                <a:ext uri="{FF2B5EF4-FFF2-40B4-BE49-F238E27FC236}">
                  <a16:creationId xmlns:a16="http://schemas.microsoft.com/office/drawing/2014/main" id="{9EA9395A-B3E4-98D5-95E1-2AA22F70B48A}"/>
                </a:ext>
              </a:extLst>
            </p:cNvPr>
            <p:cNvSpPr/>
            <p:nvPr/>
          </p:nvSpPr>
          <p:spPr bwMode="gray">
            <a:xfrm>
              <a:off x="3785081" y="3199892"/>
              <a:ext cx="900000" cy="2171621"/>
            </a:xfrm>
            <a:prstGeom prst="roundRect">
              <a:avLst/>
            </a:prstGeom>
            <a:solidFill>
              <a:srgbClr val="1B90FF">
                <a:alpha val="80000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108000" rIns="0" bIns="0" rtlCol="0" anchor="t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Angular UI comp.</a:t>
              </a:r>
            </a:p>
          </p:txBody>
        </p:sp>
        <p:sp>
          <p:nvSpPr>
            <p:cNvPr id="7" name="Rectangle: Rounded Corners 11">
              <a:extLst>
                <a:ext uri="{FF2B5EF4-FFF2-40B4-BE49-F238E27FC236}">
                  <a16:creationId xmlns:a16="http://schemas.microsoft.com/office/drawing/2014/main" id="{87AD9DF8-116E-FE20-C8EA-5EAE3B6A0866}"/>
                </a:ext>
              </a:extLst>
            </p:cNvPr>
            <p:cNvSpPr/>
            <p:nvPr/>
          </p:nvSpPr>
          <p:spPr bwMode="gray">
            <a:xfrm>
              <a:off x="4742153" y="3199892"/>
              <a:ext cx="900000" cy="2171621"/>
            </a:xfrm>
            <a:prstGeom prst="roundRect">
              <a:avLst/>
            </a:prstGeom>
            <a:solidFill>
              <a:srgbClr val="0070F2">
                <a:alpha val="80000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108000" rIns="0" bIns="0" rtlCol="0" anchor="t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React </a:t>
              </a:r>
              <a:b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</a:br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UI comp.</a:t>
              </a:r>
            </a:p>
          </p:txBody>
        </p:sp>
        <p:sp>
          <p:nvSpPr>
            <p:cNvPr id="8" name="Rectangle: Rounded Corners 12">
              <a:extLst>
                <a:ext uri="{FF2B5EF4-FFF2-40B4-BE49-F238E27FC236}">
                  <a16:creationId xmlns:a16="http://schemas.microsoft.com/office/drawing/2014/main" id="{88FC757E-265F-1A9B-6A5D-F9798A2C4F0E}"/>
                </a:ext>
              </a:extLst>
            </p:cNvPr>
            <p:cNvSpPr/>
            <p:nvPr/>
          </p:nvSpPr>
          <p:spPr bwMode="gray">
            <a:xfrm>
              <a:off x="5689057" y="3199892"/>
              <a:ext cx="3807326" cy="2171621"/>
            </a:xfrm>
            <a:prstGeom prst="roundRect">
              <a:avLst>
                <a:gd name="adj" fmla="val 5702"/>
              </a:avLst>
            </a:prstGeom>
            <a:solidFill>
              <a:srgbClr val="002A86">
                <a:alpha val="80000"/>
              </a:srgbClr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108000" rIns="0" bIns="0" rtlCol="0" anchor="t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/>
                  <a:cs typeface="Arial"/>
                </a:rPr>
                <a:t>SAPUI5</a:t>
              </a:r>
              <a:b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/>
                  <a:cs typeface="Arial"/>
                </a:rPr>
              </a:br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/>
                  <a:cs typeface="Arial"/>
                </a:rPr>
                <a:t>controls</a:t>
              </a:r>
            </a:p>
          </p:txBody>
        </p:sp>
      </p:grpSp>
      <p:sp>
        <p:nvSpPr>
          <p:cNvPr id="9" name="TextBox 13">
            <a:extLst>
              <a:ext uri="{FF2B5EF4-FFF2-40B4-BE49-F238E27FC236}">
                <a16:creationId xmlns:a16="http://schemas.microsoft.com/office/drawing/2014/main" id="{2BA82263-F592-B2D3-01AC-D274087DE595}"/>
              </a:ext>
            </a:extLst>
          </p:cNvPr>
          <p:cNvSpPr txBox="1"/>
          <p:nvPr/>
        </p:nvSpPr>
        <p:spPr>
          <a:xfrm>
            <a:off x="9713212" y="4147202"/>
            <a:ext cx="12727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defRPr sz="18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defRPr>
            </a:lvl1pPr>
          </a:lstStyle>
          <a:p>
            <a:r>
              <a:rPr lang="en-US" dirty="0"/>
              <a:t>UI elements</a:t>
            </a:r>
          </a:p>
        </p:txBody>
      </p:sp>
      <p:grpSp>
        <p:nvGrpSpPr>
          <p:cNvPr id="10" name="Group 19">
            <a:extLst>
              <a:ext uri="{FF2B5EF4-FFF2-40B4-BE49-F238E27FC236}">
                <a16:creationId xmlns:a16="http://schemas.microsoft.com/office/drawing/2014/main" id="{94A77AD1-1146-8B20-CE2F-5BCE0FAA4774}"/>
              </a:ext>
            </a:extLst>
          </p:cNvPr>
          <p:cNvGrpSpPr/>
          <p:nvPr/>
        </p:nvGrpSpPr>
        <p:grpSpPr>
          <a:xfrm>
            <a:off x="1554739" y="2300090"/>
            <a:ext cx="7931011" cy="836302"/>
            <a:chOff x="2817376" y="2300090"/>
            <a:chExt cx="6668374" cy="836302"/>
          </a:xfrm>
        </p:grpSpPr>
        <p:sp>
          <p:nvSpPr>
            <p:cNvPr id="11" name="Rectangle: Rounded Corners 29">
              <a:extLst>
                <a:ext uri="{FF2B5EF4-FFF2-40B4-BE49-F238E27FC236}">
                  <a16:creationId xmlns:a16="http://schemas.microsoft.com/office/drawing/2014/main" id="{699A0543-2060-8061-9397-0F3E2FD71948}"/>
                </a:ext>
              </a:extLst>
            </p:cNvPr>
            <p:cNvSpPr/>
            <p:nvPr/>
          </p:nvSpPr>
          <p:spPr bwMode="gray">
            <a:xfrm>
              <a:off x="2817376" y="2300090"/>
              <a:ext cx="900000" cy="836302"/>
            </a:xfrm>
            <a:prstGeom prst="roundRect">
              <a:avLst/>
            </a:prstGeom>
            <a:solidFill>
              <a:srgbClr val="89D1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600" dirty="0"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HTML</a:t>
              </a:r>
              <a:endParaRPr lang="en-US" sz="1600" dirty="0">
                <a:latin typeface="72 Brand Medium" panose="020B0604030603020204" pitchFamily="34" charset="0"/>
              </a:endParaRPr>
            </a:p>
          </p:txBody>
        </p:sp>
        <p:sp>
          <p:nvSpPr>
            <p:cNvPr id="12" name="Rectangle: Rounded Corners 30">
              <a:extLst>
                <a:ext uri="{FF2B5EF4-FFF2-40B4-BE49-F238E27FC236}">
                  <a16:creationId xmlns:a16="http://schemas.microsoft.com/office/drawing/2014/main" id="{1734710F-0A0E-2D4C-7AF6-1C8EA63BE3B8}"/>
                </a:ext>
              </a:extLst>
            </p:cNvPr>
            <p:cNvSpPr/>
            <p:nvPr/>
          </p:nvSpPr>
          <p:spPr bwMode="gray">
            <a:xfrm>
              <a:off x="3774448" y="2300090"/>
              <a:ext cx="900000" cy="836302"/>
            </a:xfrm>
            <a:prstGeom prst="roundRect">
              <a:avLst/>
            </a:prstGeom>
            <a:solidFill>
              <a:srgbClr val="1B90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Angular</a:t>
              </a:r>
              <a:endParaRPr lang="en-US" sz="1600" dirty="0">
                <a:solidFill>
                  <a:schemeClr val="bg1"/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13" name="Rectangle: Rounded Corners 31">
              <a:extLst>
                <a:ext uri="{FF2B5EF4-FFF2-40B4-BE49-F238E27FC236}">
                  <a16:creationId xmlns:a16="http://schemas.microsoft.com/office/drawing/2014/main" id="{BD0C2934-EA1A-70E7-48C9-2CD0914B8114}"/>
                </a:ext>
              </a:extLst>
            </p:cNvPr>
            <p:cNvSpPr/>
            <p:nvPr/>
          </p:nvSpPr>
          <p:spPr bwMode="gray">
            <a:xfrm>
              <a:off x="4731520" y="2300090"/>
              <a:ext cx="900000" cy="836302"/>
            </a:xfrm>
            <a:prstGeom prst="roundRect">
              <a:avLst/>
            </a:prstGeom>
            <a:solidFill>
              <a:srgbClr val="0070F2"/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React</a:t>
              </a:r>
              <a:endParaRPr lang="en-US" sz="1600" dirty="0">
                <a:solidFill>
                  <a:schemeClr val="bg1"/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14" name="Rectangle: Rounded Corners 32">
              <a:extLst>
                <a:ext uri="{FF2B5EF4-FFF2-40B4-BE49-F238E27FC236}">
                  <a16:creationId xmlns:a16="http://schemas.microsoft.com/office/drawing/2014/main" id="{84DB3EF3-8888-A94F-3B79-643EEE66D98E}"/>
                </a:ext>
              </a:extLst>
            </p:cNvPr>
            <p:cNvSpPr/>
            <p:nvPr/>
          </p:nvSpPr>
          <p:spPr bwMode="gray">
            <a:xfrm>
              <a:off x="5678424" y="2300090"/>
              <a:ext cx="3807326" cy="836302"/>
            </a:xfrm>
            <a:prstGeom prst="roundRect">
              <a:avLst/>
            </a:prstGeom>
            <a:solidFill>
              <a:srgbClr val="002A86"/>
            </a:solidFill>
            <a:ln w="25400" algn="ctr">
              <a:noFill/>
              <a:miter lim="800000"/>
              <a:headEnd/>
              <a:tailEnd/>
            </a:ln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sz="1600" dirty="0">
                  <a:solidFill>
                    <a:schemeClr val="bg1"/>
                  </a:solidFill>
                  <a:latin typeface="72 Brand Medium" panose="020B0604030603020204" pitchFamily="34" charset="0"/>
                  <a:ea typeface="Yu Mincho"/>
                  <a:cs typeface="Arial"/>
                </a:rPr>
                <a:t>SAPUI5 (incl. SAP Fiori elements)</a:t>
              </a:r>
              <a:endParaRPr lang="en-US" sz="1600" dirty="0">
                <a:solidFill>
                  <a:schemeClr val="bg1"/>
                </a:solidFill>
                <a:latin typeface="72 Brand Medium" panose="020B0604030603020204" pitchFamily="34" charset="0"/>
              </a:endParaRPr>
            </a:p>
          </p:txBody>
        </p:sp>
      </p:grpSp>
      <p:sp>
        <p:nvSpPr>
          <p:cNvPr id="15" name="TextBox 33">
            <a:extLst>
              <a:ext uri="{FF2B5EF4-FFF2-40B4-BE49-F238E27FC236}">
                <a16:creationId xmlns:a16="http://schemas.microsoft.com/office/drawing/2014/main" id="{67F176B6-9251-03E2-F64A-E76A60FEA420}"/>
              </a:ext>
            </a:extLst>
          </p:cNvPr>
          <p:cNvSpPr txBox="1"/>
          <p:nvPr/>
        </p:nvSpPr>
        <p:spPr>
          <a:xfrm>
            <a:off x="9713212" y="2579741"/>
            <a:ext cx="216565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kern="0" dirty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Programming Model</a:t>
            </a:r>
          </a:p>
        </p:txBody>
      </p:sp>
      <p:sp>
        <p:nvSpPr>
          <p:cNvPr id="16" name="Rectangle: Rounded Corners 3">
            <a:extLst>
              <a:ext uri="{FF2B5EF4-FFF2-40B4-BE49-F238E27FC236}">
                <a16:creationId xmlns:a16="http://schemas.microsoft.com/office/drawing/2014/main" id="{661D00D1-6096-EFD6-A880-F0EEE682BC87}"/>
              </a:ext>
            </a:extLst>
          </p:cNvPr>
          <p:cNvSpPr/>
          <p:nvPr/>
        </p:nvSpPr>
        <p:spPr bwMode="gray">
          <a:xfrm>
            <a:off x="1492290" y="4013201"/>
            <a:ext cx="8070809" cy="1206500"/>
          </a:xfrm>
          <a:prstGeom prst="roundRect">
            <a:avLst>
              <a:gd name="adj" fmla="val 7005"/>
            </a:avLst>
          </a:prstGeom>
          <a:solidFill>
            <a:srgbClr val="188918">
              <a:alpha val="80000"/>
            </a:srgbClr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lvl="0" algn="ctr">
              <a:defRPr/>
            </a:pPr>
            <a:r>
              <a:rPr lang="en-US" sz="1600" dirty="0">
                <a:solidFill>
                  <a:schemeClr val="bg1"/>
                </a:solidFill>
                <a:latin typeface="72 Brand Medium" panose="020B0604030603020204" pitchFamily="34" charset="0"/>
              </a:rPr>
              <a:t>SAP Web</a:t>
            </a:r>
            <a:br>
              <a:rPr lang="en-US" sz="1600" dirty="0">
                <a:solidFill>
                  <a:schemeClr val="bg1"/>
                </a:solidFill>
                <a:latin typeface="72 Brand Medium" panose="020B0604030603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72 Brand Medium" panose="020B0604030603020204" pitchFamily="34" charset="0"/>
              </a:rPr>
              <a:t>Components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23BA7B79-86B0-A7D4-ADEB-50725D478FA5}"/>
              </a:ext>
            </a:extLst>
          </p:cNvPr>
          <p:cNvSpPr txBox="1">
            <a:spLocks/>
          </p:cNvSpPr>
          <p:nvPr/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457189" indent="-457189" algn="l" defTabSz="916494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8C"/>
              </a:buClr>
              <a:buFont typeface="Wingdings" pitchFamily="2" charset="2"/>
              <a:defRPr sz="2400" b="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82588" indent="-239178" algn="r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400">
                <a:solidFill>
                  <a:srgbClr val="DE7008"/>
                </a:solidFill>
                <a:latin typeface="+mj-lt"/>
              </a:defRPr>
            </a:lvl2pPr>
            <a:lvl3pPr marL="956709" indent="-237061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rgbClr val="DE7008"/>
                </a:solidFill>
                <a:latin typeface="+mj-lt"/>
              </a:defRPr>
            </a:lvl3pPr>
            <a:lvl4pPr marL="2357908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400">
                <a:solidFill>
                  <a:srgbClr val="DE7008"/>
                </a:solidFill>
                <a:latin typeface="+mj-lt"/>
              </a:defRPr>
            </a:lvl4pPr>
            <a:lvl5pPr marL="2973843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2400">
                <a:solidFill>
                  <a:srgbClr val="DE7008"/>
                </a:solidFill>
                <a:latin typeface="+mj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r>
              <a:rPr lang="en-US" sz="2000" kern="0" dirty="0"/>
              <a:t>A consistent and seamless UX across SAP‘s products</a:t>
            </a:r>
          </a:p>
        </p:txBody>
      </p:sp>
    </p:spTree>
    <p:extLst>
      <p:ext uri="{BB962C8B-B14F-4D97-AF65-F5344CB8AC3E}">
        <p14:creationId xmlns:p14="http://schemas.microsoft.com/office/powerpoint/2010/main" val="131541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1342C9BB-A203-3330-427F-4BC42FD31FCF}"/>
              </a:ext>
            </a:extLst>
          </p:cNvPr>
          <p:cNvSpPr/>
          <p:nvPr/>
        </p:nvSpPr>
        <p:spPr bwMode="gray">
          <a:xfrm>
            <a:off x="8934307" y="1228724"/>
            <a:ext cx="2990993" cy="4857751"/>
          </a:xfrm>
          <a:prstGeom prst="roundRect">
            <a:avLst>
              <a:gd name="adj" fmla="val 7449"/>
            </a:avLst>
          </a:prstGeom>
          <a:solidFill>
            <a:srgbClr val="0070F2">
              <a:lumMod val="20000"/>
              <a:lumOff val="80000"/>
              <a:alpha val="26192"/>
            </a:srgbClr>
          </a:solidFill>
          <a:ln w="9525" algn="ctr">
            <a:solidFill>
              <a:schemeClr val="bg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E5E641-CD1B-5968-D311-44AE649CB94C}"/>
              </a:ext>
            </a:extLst>
          </p:cNvPr>
          <p:cNvGrpSpPr/>
          <p:nvPr/>
        </p:nvGrpSpPr>
        <p:grpSpPr>
          <a:xfrm>
            <a:off x="9160580" y="2045463"/>
            <a:ext cx="2764720" cy="1495055"/>
            <a:chOff x="8576054" y="1732393"/>
            <a:chExt cx="2794186" cy="14950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4C2543C-B26B-9D36-97DF-34D3F93D8404}"/>
                </a:ext>
              </a:extLst>
            </p:cNvPr>
            <p:cNvSpPr/>
            <p:nvPr/>
          </p:nvSpPr>
          <p:spPr bwMode="auto">
            <a:xfrm>
              <a:off x="8576054" y="1732393"/>
              <a:ext cx="2615068" cy="249299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72 Brand Medium" panose="020B0504030603020204" pitchFamily="34" charset="0"/>
                  <a:cs typeface="72" panose="020B0503030000000003" pitchFamily="34" charset="0"/>
                </a:rPr>
                <a:t>How you do it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76A848-5A45-B080-0240-D765B246A9FD}"/>
                </a:ext>
              </a:extLst>
            </p:cNvPr>
            <p:cNvSpPr/>
            <p:nvPr/>
          </p:nvSpPr>
          <p:spPr bwMode="auto">
            <a:xfrm>
              <a:off x="8581980" y="2088675"/>
              <a:ext cx="2788260" cy="1138773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indent="-171450" fontAlgn="base">
                <a:spcAft>
                  <a:spcPts val="1200"/>
                </a:spcAft>
                <a:buClr>
                  <a:schemeClr val="tx1"/>
                </a:buClr>
                <a:buSzPct val="85000"/>
                <a:buFont typeface="Arial" panose="020B0604020202020204" pitchFamily="34" charset="0"/>
                <a:buChar char="•"/>
                <a:defRPr/>
              </a:pPr>
              <a:r>
                <a:rPr lang="en-US" sz="1600" kern="0" dirty="0">
                  <a:solidFill>
                    <a:srgbClr val="000000"/>
                  </a:solidFill>
                  <a:latin typeface="72 Brand" panose="020B0504030603020204" pitchFamily="34" charset="0"/>
                  <a:ea typeface="Arial Unicode MS"/>
                  <a:cs typeface="Arial"/>
                </a:rPr>
                <a:t>Use SAP Web Components in SAPUI5 apps.</a:t>
              </a:r>
            </a:p>
            <a:p>
              <a:pPr marL="171450" indent="-171450" fontAlgn="base">
                <a:spcAft>
                  <a:spcPts val="1200"/>
                </a:spcAft>
                <a:buClr>
                  <a:schemeClr val="tx1"/>
                </a:buClr>
                <a:buSzPct val="85000"/>
                <a:buFont typeface="Arial" panose="020B0604020202020204" pitchFamily="34" charset="0"/>
                <a:buChar char="•"/>
                <a:defRPr/>
              </a:pPr>
              <a:r>
                <a:rPr lang="en-US" sz="1600" kern="0" dirty="0">
                  <a:solidFill>
                    <a:srgbClr val="000000"/>
                  </a:solidFill>
                  <a:latin typeface="72 Brand" panose="020B0504030603020204" pitchFamily="34" charset="0"/>
                  <a:ea typeface="Arial Unicode MS"/>
                  <a:cs typeface="Arial"/>
                </a:rPr>
                <a:t>Consume just like regular SAPUI5 controls.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FB4339B-0E64-716D-D126-A95B60C4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2430" y="1490380"/>
            <a:ext cx="324767" cy="433023"/>
          </a:xfrm>
          <a:prstGeom prst="rect">
            <a:avLst/>
          </a:prstGeom>
          <a:noFill/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916D70A-A3CD-01C3-E53A-D9817F326D68}"/>
              </a:ext>
            </a:extLst>
          </p:cNvPr>
          <p:cNvGrpSpPr/>
          <p:nvPr/>
        </p:nvGrpSpPr>
        <p:grpSpPr>
          <a:xfrm>
            <a:off x="9218024" y="3932892"/>
            <a:ext cx="2587493" cy="1990685"/>
            <a:chOff x="8576054" y="1729206"/>
            <a:chExt cx="2615069" cy="19906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C95EF0-65C3-001A-6F5A-B3508952A51B}"/>
                </a:ext>
              </a:extLst>
            </p:cNvPr>
            <p:cNvSpPr/>
            <p:nvPr/>
          </p:nvSpPr>
          <p:spPr bwMode="auto">
            <a:xfrm>
              <a:off x="8576054" y="1729206"/>
              <a:ext cx="2615068" cy="249299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72 Brand Medium" panose="020B0504030603020204" pitchFamily="34" charset="0"/>
                  <a:cs typeface="72" panose="020B0503030000000003" pitchFamily="34" charset="0"/>
                </a:rPr>
                <a:t>Why you do it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A3A928-E2A9-DC5B-7053-2F31BAB1CC73}"/>
                </a:ext>
              </a:extLst>
            </p:cNvPr>
            <p:cNvSpPr/>
            <p:nvPr/>
          </p:nvSpPr>
          <p:spPr bwMode="auto">
            <a:xfrm>
              <a:off x="8581982" y="2088675"/>
              <a:ext cx="2609141" cy="1631216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indent="-171450" fontAlgn="base">
                <a:spcAft>
                  <a:spcPts val="1200"/>
                </a:spcAft>
                <a:buClr>
                  <a:schemeClr val="tx1"/>
                </a:buClr>
                <a:buSzPct val="85000"/>
                <a:buFont typeface="Arial" panose="020B0604020202020204" pitchFamily="34" charset="0"/>
                <a:buChar char="•"/>
                <a:defRPr/>
              </a:pPr>
              <a:r>
                <a:rPr lang="en-US" sz="1600" kern="0" dirty="0">
                  <a:solidFill>
                    <a:srgbClr val="000000"/>
                  </a:solidFill>
                  <a:latin typeface="72 Brand" panose="020B0504030603020204" pitchFamily="34" charset="0"/>
                  <a:ea typeface="Arial Unicode MS"/>
                  <a:cs typeface="Arial"/>
                </a:rPr>
                <a:t>SAP Web Components are strategic UI elements for ALL technology stacks.</a:t>
              </a:r>
            </a:p>
            <a:p>
              <a:pPr marL="171450" indent="-171450" fontAlgn="base">
                <a:spcAft>
                  <a:spcPts val="1200"/>
                </a:spcAft>
                <a:buClr>
                  <a:schemeClr val="tx1"/>
                </a:buClr>
                <a:buSzPct val="85000"/>
                <a:buFont typeface="Arial" panose="020B0604020202020204" pitchFamily="34" charset="0"/>
                <a:buChar char="•"/>
                <a:defRPr/>
              </a:pPr>
              <a:r>
                <a:rPr lang="en-US" sz="1600" kern="0" dirty="0">
                  <a:solidFill>
                    <a:srgbClr val="000000"/>
                  </a:solidFill>
                  <a:latin typeface="72 Brand" panose="020B0504030603020204" pitchFamily="34" charset="0"/>
                  <a:ea typeface="Arial Unicode MS"/>
                  <a:cs typeface="Arial"/>
                </a:rPr>
                <a:t>Benefit from SAPUI5 framework features for SAP Web Components.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8F0C8A9-54DA-231F-70E0-917B5EA44B7E}"/>
              </a:ext>
            </a:extLst>
          </p:cNvPr>
          <p:cNvSpPr/>
          <p:nvPr/>
        </p:nvSpPr>
        <p:spPr bwMode="gray">
          <a:xfrm>
            <a:off x="1169006" y="1558979"/>
            <a:ext cx="6654181" cy="4243703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180000" tIns="180000" rIns="90000" bIns="72000" rtlCol="0" anchor="t" anchorCtr="0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SAPUI5 app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</a:endParaRPr>
          </a:p>
        </p:txBody>
      </p:sp>
      <p:sp>
        <p:nvSpPr>
          <p:cNvPr id="13" name="Rectangle: Rounded Corners 29">
            <a:extLst>
              <a:ext uri="{FF2B5EF4-FFF2-40B4-BE49-F238E27FC236}">
                <a16:creationId xmlns:a16="http://schemas.microsoft.com/office/drawing/2014/main" id="{C03D3241-614A-3B82-EFE5-39513F3B8B1E}"/>
              </a:ext>
            </a:extLst>
          </p:cNvPr>
          <p:cNvSpPr/>
          <p:nvPr/>
        </p:nvSpPr>
        <p:spPr bwMode="gray">
          <a:xfrm>
            <a:off x="1614130" y="3762042"/>
            <a:ext cx="4749711" cy="696832"/>
          </a:xfrm>
          <a:prstGeom prst="roundRect">
            <a:avLst>
              <a:gd name="adj" fmla="val 7099"/>
            </a:avLst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r>
              <a:rPr lang="en-US" sz="1800" dirty="0">
                <a:solidFill>
                  <a:schemeClr val="bg1"/>
                </a:solidFill>
                <a:latin typeface="+mn-lt"/>
              </a:rPr>
              <a:t>&lt;SAPUI5 control          		&gt;</a:t>
            </a:r>
          </a:p>
        </p:txBody>
      </p:sp>
      <p:sp>
        <p:nvSpPr>
          <p:cNvPr id="14" name="Rectangle: Rounded Corners 30">
            <a:extLst>
              <a:ext uri="{FF2B5EF4-FFF2-40B4-BE49-F238E27FC236}">
                <a16:creationId xmlns:a16="http://schemas.microsoft.com/office/drawing/2014/main" id="{30B130BB-C76D-3055-045C-59A83FD8CFBA}"/>
              </a:ext>
            </a:extLst>
          </p:cNvPr>
          <p:cNvSpPr/>
          <p:nvPr/>
        </p:nvSpPr>
        <p:spPr bwMode="gray">
          <a:xfrm>
            <a:off x="1614130" y="2169492"/>
            <a:ext cx="2520000" cy="360000"/>
          </a:xfrm>
          <a:prstGeom prst="roundRect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&lt;SAPUI5 control&gt;</a:t>
            </a:r>
          </a:p>
        </p:txBody>
      </p:sp>
      <p:sp>
        <p:nvSpPr>
          <p:cNvPr id="15" name="Rectangle: Rounded Corners 31">
            <a:extLst>
              <a:ext uri="{FF2B5EF4-FFF2-40B4-BE49-F238E27FC236}">
                <a16:creationId xmlns:a16="http://schemas.microsoft.com/office/drawing/2014/main" id="{7254BFAF-2262-D72A-D064-1333E3B0E3D0}"/>
              </a:ext>
            </a:extLst>
          </p:cNvPr>
          <p:cNvSpPr/>
          <p:nvPr/>
        </p:nvSpPr>
        <p:spPr bwMode="gray">
          <a:xfrm>
            <a:off x="3490575" y="3932892"/>
            <a:ext cx="2520000" cy="360000"/>
          </a:xfrm>
          <a:prstGeom prst="roundRect">
            <a:avLst/>
          </a:prstGeom>
          <a:solidFill>
            <a:srgbClr val="18891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</a:rPr>
              <a:t>SAP Web Component</a:t>
            </a:r>
          </a:p>
        </p:txBody>
      </p:sp>
      <p:sp>
        <p:nvSpPr>
          <p:cNvPr id="16" name="Rectangle: Rounded Corners 32">
            <a:extLst>
              <a:ext uri="{FF2B5EF4-FFF2-40B4-BE49-F238E27FC236}">
                <a16:creationId xmlns:a16="http://schemas.microsoft.com/office/drawing/2014/main" id="{4A49431D-97C9-D706-B519-88A7984AF499}"/>
              </a:ext>
            </a:extLst>
          </p:cNvPr>
          <p:cNvSpPr/>
          <p:nvPr/>
        </p:nvSpPr>
        <p:spPr bwMode="gray">
          <a:xfrm>
            <a:off x="1951258" y="2700342"/>
            <a:ext cx="2520000" cy="360000"/>
          </a:xfrm>
          <a:prstGeom prst="roundRect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&lt;SAPUI5 control&gt;</a:t>
            </a:r>
          </a:p>
        </p:txBody>
      </p:sp>
      <p:sp>
        <p:nvSpPr>
          <p:cNvPr id="17" name="Rectangle: Rounded Corners 33">
            <a:extLst>
              <a:ext uri="{FF2B5EF4-FFF2-40B4-BE49-F238E27FC236}">
                <a16:creationId xmlns:a16="http://schemas.microsoft.com/office/drawing/2014/main" id="{2E5F95FE-9DB0-49EA-1755-A0C9E67FAB1C}"/>
              </a:ext>
            </a:extLst>
          </p:cNvPr>
          <p:cNvSpPr/>
          <p:nvPr/>
        </p:nvSpPr>
        <p:spPr bwMode="gray">
          <a:xfrm>
            <a:off x="1614130" y="3231192"/>
            <a:ext cx="2520000" cy="360000"/>
          </a:xfrm>
          <a:prstGeom prst="roundRect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&lt;SAPUI5 control&gt;</a:t>
            </a:r>
          </a:p>
        </p:txBody>
      </p:sp>
      <p:sp>
        <p:nvSpPr>
          <p:cNvPr id="18" name="Rectangle: Rounded Corners 34">
            <a:extLst>
              <a:ext uri="{FF2B5EF4-FFF2-40B4-BE49-F238E27FC236}">
                <a16:creationId xmlns:a16="http://schemas.microsoft.com/office/drawing/2014/main" id="{1BE8C0E9-4FF1-67DA-DED7-0F63F6830641}"/>
              </a:ext>
            </a:extLst>
          </p:cNvPr>
          <p:cNvSpPr/>
          <p:nvPr/>
        </p:nvSpPr>
        <p:spPr bwMode="gray">
          <a:xfrm>
            <a:off x="1614130" y="4634592"/>
            <a:ext cx="2520000" cy="360000"/>
          </a:xfrm>
          <a:prstGeom prst="roundRect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&lt;SAPUI5 control&gt;</a:t>
            </a:r>
          </a:p>
        </p:txBody>
      </p:sp>
      <p:sp>
        <p:nvSpPr>
          <p:cNvPr id="19" name="Rectangle: Rounded Corners 35">
            <a:extLst>
              <a:ext uri="{FF2B5EF4-FFF2-40B4-BE49-F238E27FC236}">
                <a16:creationId xmlns:a16="http://schemas.microsoft.com/office/drawing/2014/main" id="{E285D965-031D-CCC8-089D-52BEF2148ABA}"/>
              </a:ext>
            </a:extLst>
          </p:cNvPr>
          <p:cNvSpPr/>
          <p:nvPr/>
        </p:nvSpPr>
        <p:spPr bwMode="gray">
          <a:xfrm>
            <a:off x="1614130" y="5160574"/>
            <a:ext cx="2520000" cy="360000"/>
          </a:xfrm>
          <a:prstGeom prst="roundRect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&lt;SAPUI5 control&gt;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1023ED-1512-759A-E271-1CED8ACA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0548" y="469640"/>
            <a:ext cx="9723612" cy="6480720"/>
          </a:xfrm>
          <a:prstGeom prst="rect">
            <a:avLst/>
          </a:prstGeom>
        </p:spPr>
      </p:pic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D51B7CCF-7249-3D1F-16CD-4B1C6884BE30}"/>
              </a:ext>
            </a:extLst>
          </p:cNvPr>
          <p:cNvSpPr txBox="1">
            <a:spLocks/>
          </p:cNvSpPr>
          <p:nvPr/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457189" indent="-457189" algn="l" defTabSz="916494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8C"/>
              </a:buClr>
              <a:buFont typeface="Wingdings" pitchFamily="2" charset="2"/>
              <a:defRPr sz="2400" b="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82588" indent="-239178" algn="r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400">
                <a:solidFill>
                  <a:srgbClr val="DE7008"/>
                </a:solidFill>
                <a:latin typeface="+mj-lt"/>
              </a:defRPr>
            </a:lvl2pPr>
            <a:lvl3pPr marL="956709" indent="-237061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rgbClr val="DE7008"/>
                </a:solidFill>
                <a:latin typeface="+mj-lt"/>
              </a:defRPr>
            </a:lvl3pPr>
            <a:lvl4pPr marL="2357908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400">
                <a:solidFill>
                  <a:srgbClr val="DE7008"/>
                </a:solidFill>
                <a:latin typeface="+mj-lt"/>
              </a:defRPr>
            </a:lvl4pPr>
            <a:lvl5pPr marL="2973843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2400">
                <a:solidFill>
                  <a:srgbClr val="DE7008"/>
                </a:solidFill>
                <a:latin typeface="+mj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r>
              <a:rPr lang="en-US" sz="2000" kern="0" dirty="0"/>
              <a:t>Seamless Integration of SAP Web Components into SAPUI5</a:t>
            </a:r>
          </a:p>
        </p:txBody>
      </p:sp>
    </p:spTree>
    <p:extLst>
      <p:ext uri="{BB962C8B-B14F-4D97-AF65-F5344CB8AC3E}">
        <p14:creationId xmlns:p14="http://schemas.microsoft.com/office/powerpoint/2010/main" val="223088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2C2A31D5-0733-AE72-240D-9F17AF61BA22}"/>
              </a:ext>
            </a:extLst>
          </p:cNvPr>
          <p:cNvSpPr/>
          <p:nvPr/>
        </p:nvSpPr>
        <p:spPr bwMode="gray">
          <a:xfrm>
            <a:off x="504000" y="2294058"/>
            <a:ext cx="4408219" cy="731520"/>
          </a:xfrm>
          <a:prstGeom prst="roundRect">
            <a:avLst>
              <a:gd name="adj" fmla="val 9238"/>
            </a:avLst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  <a:effectLst>
            <a:outerShdw blurRad="165100" dist="38100" dir="2700000" algn="tl" rotWithShape="0">
              <a:prstClr val="black">
                <a:alpha val="29839"/>
              </a:prstClr>
            </a:outerShdw>
          </a:effectLst>
        </p:spPr>
        <p:txBody>
          <a:bodyPr lIns="182880" tIns="91440" rIns="228600" bIns="91440" rtlCol="0" anchor="ctr" anchorCtr="0">
            <a:no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cs typeface="Arial"/>
            </a:endParaRPr>
          </a:p>
        </p:txBody>
      </p:sp>
      <p:pic>
        <p:nvPicPr>
          <p:cNvPr id="5" name="Graphic 12">
            <a:extLst>
              <a:ext uri="{FF2B5EF4-FFF2-40B4-BE49-F238E27FC236}">
                <a16:creationId xmlns:a16="http://schemas.microsoft.com/office/drawing/2014/main" id="{27AB9582-CA2F-DC7B-EFDE-57FF5AADD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14567" y="2469839"/>
            <a:ext cx="357457" cy="357457"/>
          </a:xfrm>
          <a:prstGeom prst="rect">
            <a:avLst/>
          </a:prstGeom>
        </p:spPr>
      </p:pic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D0836A00-873B-1681-8974-E57FF16BD527}"/>
              </a:ext>
            </a:extLst>
          </p:cNvPr>
          <p:cNvSpPr/>
          <p:nvPr/>
        </p:nvSpPr>
        <p:spPr bwMode="gray">
          <a:xfrm>
            <a:off x="1092722" y="2294058"/>
            <a:ext cx="4408219" cy="7315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  <a:effectLst/>
        </p:spPr>
        <p:txBody>
          <a:bodyPr lIns="182880" tIns="91440" rIns="228600" bIns="91440" rtlCol="0" anchor="ctr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UI5 linter is a static </a:t>
            </a:r>
            <a:r>
              <a:rPr lang="en-US" sz="1600" b="1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code analysis</a:t>
            </a:r>
            <a:br>
              <a:rPr lang="en-US" sz="1600" b="1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</a:br>
            <a:r>
              <a:rPr lang="en-US" sz="1600" b="1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tool</a:t>
            </a:r>
            <a:r>
              <a:rPr lang="en-US" sz="16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for UI5 application code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cs typeface="Arial"/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5E8252B6-AE31-6947-C213-D0FB2AA73972}"/>
              </a:ext>
            </a:extLst>
          </p:cNvPr>
          <p:cNvSpPr/>
          <p:nvPr/>
        </p:nvSpPr>
        <p:spPr bwMode="gray">
          <a:xfrm>
            <a:off x="504000" y="3115659"/>
            <a:ext cx="4408219" cy="731520"/>
          </a:xfrm>
          <a:prstGeom prst="roundRect">
            <a:avLst>
              <a:gd name="adj" fmla="val 9238"/>
            </a:avLst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  <a:effectLst>
            <a:outerShdw blurRad="165100" dist="38100" dir="2700000" algn="tl" rotWithShape="0">
              <a:prstClr val="black">
                <a:alpha val="29839"/>
              </a:prstClr>
            </a:outerShdw>
          </a:effectLst>
        </p:spPr>
        <p:txBody>
          <a:bodyPr lIns="228600" tIns="91440" rIns="228600" bIns="91440" rtlCol="0" anchor="ctr" anchorCtr="0">
            <a:no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D0B417CD-9F27-1FDF-933F-AE1A303DFE3A}"/>
              </a:ext>
            </a:extLst>
          </p:cNvPr>
          <p:cNvSpPr/>
          <p:nvPr/>
        </p:nvSpPr>
        <p:spPr bwMode="gray">
          <a:xfrm>
            <a:off x="1092722" y="3115659"/>
            <a:ext cx="4408219" cy="7315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  <a:effectLst/>
        </p:spPr>
        <p:txBody>
          <a:bodyPr lIns="228600" tIns="91440" rIns="228600" bIns="91440" rtlCol="0" anchor="ctr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 b="1" dirty="0" err="1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Autofix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 option can automatically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correct certain findings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cs typeface="Arial"/>
            </a:endParaRP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D684BE2E-12AB-2762-D81F-25366E2E6FCE}"/>
              </a:ext>
            </a:extLst>
          </p:cNvPr>
          <p:cNvSpPr/>
          <p:nvPr/>
        </p:nvSpPr>
        <p:spPr bwMode="gray">
          <a:xfrm>
            <a:off x="504000" y="3937260"/>
            <a:ext cx="4408219" cy="731520"/>
          </a:xfrm>
          <a:prstGeom prst="roundRect">
            <a:avLst>
              <a:gd name="adj" fmla="val 9238"/>
            </a:avLst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  <a:effectLst>
            <a:outerShdw blurRad="165100" dist="38100" dir="2700000" algn="tl" rotWithShape="0">
              <a:prstClr val="black">
                <a:alpha val="29839"/>
              </a:prstClr>
            </a:outerShdw>
          </a:effectLst>
        </p:spPr>
        <p:txBody>
          <a:bodyPr lIns="228600" tIns="91440" rIns="91440" bIns="91440" rtlCol="0" anchor="ctr" anchorCtr="0">
            <a:no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8D87A158-8CF1-2E05-6BCC-D9B3AC3933D2}"/>
              </a:ext>
            </a:extLst>
          </p:cNvPr>
          <p:cNvSpPr/>
          <p:nvPr/>
        </p:nvSpPr>
        <p:spPr bwMode="gray">
          <a:xfrm>
            <a:off x="1092722" y="3937260"/>
            <a:ext cx="4408219" cy="7315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  <a:effectLst/>
        </p:spPr>
        <p:txBody>
          <a:bodyPr lIns="228600" tIns="91440" rIns="91440" bIns="91440" rtlCol="0" anchor="ctr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UI5 linter validates your SAPUI5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code against </a:t>
            </a:r>
            <a:r>
              <a:rPr lang="en-US" sz="1600" b="1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UI5 best practices​</a:t>
            </a:r>
          </a:p>
        </p:txBody>
      </p:sp>
      <p:pic>
        <p:nvPicPr>
          <p:cNvPr id="11" name="Graphic 19">
            <a:extLst>
              <a:ext uri="{FF2B5EF4-FFF2-40B4-BE49-F238E27FC236}">
                <a16:creationId xmlns:a16="http://schemas.microsoft.com/office/drawing/2014/main" id="{0E0E2C1B-18A9-069F-BAC2-EED647C70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89" y="4134163"/>
            <a:ext cx="338675" cy="338675"/>
          </a:xfrm>
          <a:prstGeom prst="rect">
            <a:avLst/>
          </a:prstGeom>
        </p:spPr>
      </p:pic>
      <p:sp>
        <p:nvSpPr>
          <p:cNvPr id="12" name="Rounded Rectangle 20">
            <a:extLst>
              <a:ext uri="{FF2B5EF4-FFF2-40B4-BE49-F238E27FC236}">
                <a16:creationId xmlns:a16="http://schemas.microsoft.com/office/drawing/2014/main" id="{95E419CF-734D-F1FA-FD34-82E3D2EB31D6}"/>
              </a:ext>
            </a:extLst>
          </p:cNvPr>
          <p:cNvSpPr/>
          <p:nvPr/>
        </p:nvSpPr>
        <p:spPr bwMode="gray">
          <a:xfrm>
            <a:off x="504000" y="4758861"/>
            <a:ext cx="4408219" cy="731520"/>
          </a:xfrm>
          <a:prstGeom prst="roundRect">
            <a:avLst>
              <a:gd name="adj" fmla="val 9238"/>
            </a:avLst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  <a:effectLst>
            <a:outerShdw blurRad="165100" dist="38100" dir="2700000" algn="tl" rotWithShape="0">
              <a:prstClr val="black">
                <a:alpha val="29839"/>
              </a:prstClr>
            </a:outerShdw>
          </a:effectLst>
        </p:spPr>
        <p:txBody>
          <a:bodyPr lIns="228600" tIns="91440" rIns="91440" bIns="91440" rtlCol="0" anchor="ctr" anchorCtr="0">
            <a:no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cs typeface="Arial"/>
            </a:endParaRPr>
          </a:p>
        </p:txBody>
      </p:sp>
      <p:sp>
        <p:nvSpPr>
          <p:cNvPr id="13" name="Rounded Rectangle 21">
            <a:extLst>
              <a:ext uri="{FF2B5EF4-FFF2-40B4-BE49-F238E27FC236}">
                <a16:creationId xmlns:a16="http://schemas.microsoft.com/office/drawing/2014/main" id="{122FC58F-ED1B-8540-43D8-DF3661C76F8B}"/>
              </a:ext>
            </a:extLst>
          </p:cNvPr>
          <p:cNvSpPr/>
          <p:nvPr/>
        </p:nvSpPr>
        <p:spPr bwMode="gray">
          <a:xfrm>
            <a:off x="1092722" y="4758861"/>
            <a:ext cx="4408219" cy="7315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  <a:effectLst/>
        </p:spPr>
        <p:txBody>
          <a:bodyPr lIns="228600" tIns="91440" rIns="91440" bIns="91440" rtlCol="0" anchor="ctr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Ensure your code is ready for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cs typeface="Arial"/>
              </a:rPr>
              <a:t>upcoming SAPUI5 versions</a:t>
            </a:r>
          </a:p>
        </p:txBody>
      </p:sp>
      <p:pic>
        <p:nvPicPr>
          <p:cNvPr id="14" name="Graphic 22">
            <a:extLst>
              <a:ext uri="{FF2B5EF4-FFF2-40B4-BE49-F238E27FC236}">
                <a16:creationId xmlns:a16="http://schemas.microsoft.com/office/drawing/2014/main" id="{44596152-44DC-2DD8-D27A-4FE51A8F2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25" y="4935684"/>
            <a:ext cx="338675" cy="338675"/>
          </a:xfrm>
          <a:prstGeom prst="rect">
            <a:avLst/>
          </a:prstGeom>
        </p:spPr>
      </p:pic>
      <p:grpSp>
        <p:nvGrpSpPr>
          <p:cNvPr id="15" name="Graphic 25">
            <a:extLst>
              <a:ext uri="{FF2B5EF4-FFF2-40B4-BE49-F238E27FC236}">
                <a16:creationId xmlns:a16="http://schemas.microsoft.com/office/drawing/2014/main" id="{B295E49B-2F8B-D835-A6BA-341D04DAC97E}"/>
              </a:ext>
            </a:extLst>
          </p:cNvPr>
          <p:cNvGrpSpPr/>
          <p:nvPr/>
        </p:nvGrpSpPr>
        <p:grpSpPr>
          <a:xfrm>
            <a:off x="614567" y="3305434"/>
            <a:ext cx="351969" cy="351969"/>
            <a:chOff x="2362062" y="1120331"/>
            <a:chExt cx="351969" cy="351969"/>
          </a:xfrm>
        </p:grpSpPr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AF943AF5-8506-B3D9-E3CE-10FB17046B16}"/>
                </a:ext>
              </a:extLst>
            </p:cNvPr>
            <p:cNvSpPr/>
            <p:nvPr/>
          </p:nvSpPr>
          <p:spPr>
            <a:xfrm>
              <a:off x="2362062" y="1120331"/>
              <a:ext cx="351969" cy="351969"/>
            </a:xfrm>
            <a:custGeom>
              <a:avLst/>
              <a:gdLst>
                <a:gd name="connsiteX0" fmla="*/ 0 w 351969"/>
                <a:gd name="connsiteY0" fmla="*/ 0 h 351969"/>
                <a:gd name="connsiteX1" fmla="*/ 351969 w 351969"/>
                <a:gd name="connsiteY1" fmla="*/ 0 h 351969"/>
                <a:gd name="connsiteX2" fmla="*/ 351969 w 351969"/>
                <a:gd name="connsiteY2" fmla="*/ 351969 h 351969"/>
                <a:gd name="connsiteX3" fmla="*/ 0 w 351969"/>
                <a:gd name="connsiteY3" fmla="*/ 351969 h 35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969" h="351969">
                  <a:moveTo>
                    <a:pt x="0" y="0"/>
                  </a:moveTo>
                  <a:lnTo>
                    <a:pt x="351969" y="0"/>
                  </a:lnTo>
                  <a:lnTo>
                    <a:pt x="351969" y="351969"/>
                  </a:lnTo>
                  <a:lnTo>
                    <a:pt x="0" y="351969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3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 dirty="0">
                <a:latin typeface="72 Brand" panose="020B0504030603020204" pitchFamily="34" charset="0"/>
              </a:endParaRPr>
            </a:p>
          </p:txBody>
        </p:sp>
        <p:sp>
          <p:nvSpPr>
            <p:cNvPr id="17" name="Freeform 28">
              <a:extLst>
                <a:ext uri="{FF2B5EF4-FFF2-40B4-BE49-F238E27FC236}">
                  <a16:creationId xmlns:a16="http://schemas.microsoft.com/office/drawing/2014/main" id="{0ADDC84A-A0FB-7BEA-3830-A230BFF8AC5E}"/>
                </a:ext>
              </a:extLst>
            </p:cNvPr>
            <p:cNvSpPr/>
            <p:nvPr/>
          </p:nvSpPr>
          <p:spPr>
            <a:xfrm>
              <a:off x="2538064" y="1142317"/>
              <a:ext cx="153979" cy="307995"/>
            </a:xfrm>
            <a:custGeom>
              <a:avLst/>
              <a:gdLst>
                <a:gd name="connsiteX0" fmla="*/ 136383 w 153979"/>
                <a:gd name="connsiteY0" fmla="*/ 307996 h 307995"/>
                <a:gd name="connsiteX1" fmla="*/ 17597 w 153979"/>
                <a:gd name="connsiteY1" fmla="*/ 307996 h 307995"/>
                <a:gd name="connsiteX2" fmla="*/ 0 w 153979"/>
                <a:gd name="connsiteY2" fmla="*/ 290399 h 307995"/>
                <a:gd name="connsiteX3" fmla="*/ 17597 w 153979"/>
                <a:gd name="connsiteY3" fmla="*/ 272803 h 307995"/>
                <a:gd name="connsiteX4" fmla="*/ 136383 w 153979"/>
                <a:gd name="connsiteY4" fmla="*/ 272803 h 307995"/>
                <a:gd name="connsiteX5" fmla="*/ 153980 w 153979"/>
                <a:gd name="connsiteY5" fmla="*/ 290399 h 307995"/>
                <a:gd name="connsiteX6" fmla="*/ 136383 w 153979"/>
                <a:gd name="connsiteY6" fmla="*/ 307996 h 307995"/>
                <a:gd name="connsiteX7" fmla="*/ 136383 w 153979"/>
                <a:gd name="connsiteY7" fmla="*/ 241999 h 307995"/>
                <a:gd name="connsiteX8" fmla="*/ 61606 w 153979"/>
                <a:gd name="connsiteY8" fmla="*/ 241999 h 307995"/>
                <a:gd name="connsiteX9" fmla="*/ 44010 w 153979"/>
                <a:gd name="connsiteY9" fmla="*/ 224403 h 307995"/>
                <a:gd name="connsiteX10" fmla="*/ 61606 w 153979"/>
                <a:gd name="connsiteY10" fmla="*/ 206806 h 307995"/>
                <a:gd name="connsiteX11" fmla="*/ 136383 w 153979"/>
                <a:gd name="connsiteY11" fmla="*/ 206806 h 307995"/>
                <a:gd name="connsiteX12" fmla="*/ 153980 w 153979"/>
                <a:gd name="connsiteY12" fmla="*/ 224403 h 307995"/>
                <a:gd name="connsiteX13" fmla="*/ 136383 w 153979"/>
                <a:gd name="connsiteY13" fmla="*/ 241999 h 307995"/>
                <a:gd name="connsiteX14" fmla="*/ 136383 w 153979"/>
                <a:gd name="connsiteY14" fmla="*/ 176003 h 307995"/>
                <a:gd name="connsiteX15" fmla="*/ 17597 w 153979"/>
                <a:gd name="connsiteY15" fmla="*/ 176003 h 307995"/>
                <a:gd name="connsiteX16" fmla="*/ 0 w 153979"/>
                <a:gd name="connsiteY16" fmla="*/ 158406 h 307995"/>
                <a:gd name="connsiteX17" fmla="*/ 17597 w 153979"/>
                <a:gd name="connsiteY17" fmla="*/ 140810 h 307995"/>
                <a:gd name="connsiteX18" fmla="*/ 136383 w 153979"/>
                <a:gd name="connsiteY18" fmla="*/ 140810 h 307995"/>
                <a:gd name="connsiteX19" fmla="*/ 153980 w 153979"/>
                <a:gd name="connsiteY19" fmla="*/ 158406 h 307995"/>
                <a:gd name="connsiteX20" fmla="*/ 136383 w 153979"/>
                <a:gd name="connsiteY20" fmla="*/ 176003 h 307995"/>
                <a:gd name="connsiteX21" fmla="*/ 136383 w 153979"/>
                <a:gd name="connsiteY21" fmla="*/ 101190 h 307995"/>
                <a:gd name="connsiteX22" fmla="*/ 61606 w 153979"/>
                <a:gd name="connsiteY22" fmla="*/ 101190 h 307995"/>
                <a:gd name="connsiteX23" fmla="*/ 44010 w 153979"/>
                <a:gd name="connsiteY23" fmla="*/ 83593 h 307995"/>
                <a:gd name="connsiteX24" fmla="*/ 61606 w 153979"/>
                <a:gd name="connsiteY24" fmla="*/ 65997 h 307995"/>
                <a:gd name="connsiteX25" fmla="*/ 136383 w 153979"/>
                <a:gd name="connsiteY25" fmla="*/ 65997 h 307995"/>
                <a:gd name="connsiteX26" fmla="*/ 153980 w 153979"/>
                <a:gd name="connsiteY26" fmla="*/ 83593 h 307995"/>
                <a:gd name="connsiteX27" fmla="*/ 136383 w 153979"/>
                <a:gd name="connsiteY27" fmla="*/ 101190 h 307995"/>
                <a:gd name="connsiteX28" fmla="*/ 136383 w 153979"/>
                <a:gd name="connsiteY28" fmla="*/ 35193 h 307995"/>
                <a:gd name="connsiteX29" fmla="*/ 17597 w 153979"/>
                <a:gd name="connsiteY29" fmla="*/ 35193 h 307995"/>
                <a:gd name="connsiteX30" fmla="*/ 0 w 153979"/>
                <a:gd name="connsiteY30" fmla="*/ 17597 h 307995"/>
                <a:gd name="connsiteX31" fmla="*/ 17597 w 153979"/>
                <a:gd name="connsiteY31" fmla="*/ 0 h 307995"/>
                <a:gd name="connsiteX32" fmla="*/ 136383 w 153979"/>
                <a:gd name="connsiteY32" fmla="*/ 0 h 307995"/>
                <a:gd name="connsiteX33" fmla="*/ 153980 w 153979"/>
                <a:gd name="connsiteY33" fmla="*/ 17597 h 307995"/>
                <a:gd name="connsiteX34" fmla="*/ 136383 w 153979"/>
                <a:gd name="connsiteY34" fmla="*/ 35193 h 30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53979" h="307995">
                  <a:moveTo>
                    <a:pt x="136383" y="307996"/>
                  </a:moveTo>
                  <a:lnTo>
                    <a:pt x="17597" y="307996"/>
                  </a:lnTo>
                  <a:cubicBezTo>
                    <a:pt x="7865" y="307996"/>
                    <a:pt x="0" y="300131"/>
                    <a:pt x="0" y="290399"/>
                  </a:cubicBezTo>
                  <a:cubicBezTo>
                    <a:pt x="0" y="280668"/>
                    <a:pt x="7865" y="272803"/>
                    <a:pt x="17597" y="272803"/>
                  </a:cubicBezTo>
                  <a:lnTo>
                    <a:pt x="136383" y="272803"/>
                  </a:lnTo>
                  <a:cubicBezTo>
                    <a:pt x="146114" y="272803"/>
                    <a:pt x="153980" y="280668"/>
                    <a:pt x="153980" y="290399"/>
                  </a:cubicBezTo>
                  <a:cubicBezTo>
                    <a:pt x="153980" y="300131"/>
                    <a:pt x="146114" y="307996"/>
                    <a:pt x="136383" y="307996"/>
                  </a:cubicBezTo>
                  <a:close/>
                  <a:moveTo>
                    <a:pt x="136383" y="241999"/>
                  </a:moveTo>
                  <a:lnTo>
                    <a:pt x="61606" y="241999"/>
                  </a:lnTo>
                  <a:cubicBezTo>
                    <a:pt x="51875" y="241999"/>
                    <a:pt x="44010" y="234134"/>
                    <a:pt x="44010" y="224403"/>
                  </a:cubicBezTo>
                  <a:cubicBezTo>
                    <a:pt x="44010" y="214672"/>
                    <a:pt x="51875" y="206806"/>
                    <a:pt x="61606" y="206806"/>
                  </a:cubicBezTo>
                  <a:lnTo>
                    <a:pt x="136383" y="206806"/>
                  </a:lnTo>
                  <a:cubicBezTo>
                    <a:pt x="146114" y="206806"/>
                    <a:pt x="153980" y="214672"/>
                    <a:pt x="153980" y="224403"/>
                  </a:cubicBezTo>
                  <a:cubicBezTo>
                    <a:pt x="153980" y="234134"/>
                    <a:pt x="146114" y="241999"/>
                    <a:pt x="136383" y="241999"/>
                  </a:cubicBezTo>
                  <a:close/>
                  <a:moveTo>
                    <a:pt x="136383" y="176003"/>
                  </a:moveTo>
                  <a:lnTo>
                    <a:pt x="17597" y="176003"/>
                  </a:lnTo>
                  <a:cubicBezTo>
                    <a:pt x="7865" y="176003"/>
                    <a:pt x="0" y="168137"/>
                    <a:pt x="0" y="158406"/>
                  </a:cubicBezTo>
                  <a:cubicBezTo>
                    <a:pt x="0" y="148675"/>
                    <a:pt x="7865" y="140810"/>
                    <a:pt x="17597" y="140810"/>
                  </a:cubicBezTo>
                  <a:lnTo>
                    <a:pt x="136383" y="140810"/>
                  </a:lnTo>
                  <a:cubicBezTo>
                    <a:pt x="146114" y="140810"/>
                    <a:pt x="153980" y="148675"/>
                    <a:pt x="153980" y="158406"/>
                  </a:cubicBezTo>
                  <a:cubicBezTo>
                    <a:pt x="153980" y="168137"/>
                    <a:pt x="146114" y="176003"/>
                    <a:pt x="136383" y="176003"/>
                  </a:cubicBezTo>
                  <a:close/>
                  <a:moveTo>
                    <a:pt x="136383" y="101190"/>
                  </a:moveTo>
                  <a:lnTo>
                    <a:pt x="61606" y="101190"/>
                  </a:lnTo>
                  <a:cubicBezTo>
                    <a:pt x="51875" y="101190"/>
                    <a:pt x="44010" y="93324"/>
                    <a:pt x="44010" y="83593"/>
                  </a:cubicBezTo>
                  <a:cubicBezTo>
                    <a:pt x="44010" y="73862"/>
                    <a:pt x="51875" y="65997"/>
                    <a:pt x="61606" y="65997"/>
                  </a:cubicBezTo>
                  <a:lnTo>
                    <a:pt x="136383" y="65997"/>
                  </a:lnTo>
                  <a:cubicBezTo>
                    <a:pt x="146114" y="65997"/>
                    <a:pt x="153980" y="73862"/>
                    <a:pt x="153980" y="83593"/>
                  </a:cubicBezTo>
                  <a:cubicBezTo>
                    <a:pt x="153980" y="93324"/>
                    <a:pt x="146114" y="101190"/>
                    <a:pt x="136383" y="101190"/>
                  </a:cubicBezTo>
                  <a:close/>
                  <a:moveTo>
                    <a:pt x="136383" y="35193"/>
                  </a:moveTo>
                  <a:lnTo>
                    <a:pt x="17597" y="35193"/>
                  </a:lnTo>
                  <a:cubicBezTo>
                    <a:pt x="7865" y="35193"/>
                    <a:pt x="0" y="27328"/>
                    <a:pt x="0" y="17597"/>
                  </a:cubicBezTo>
                  <a:cubicBezTo>
                    <a:pt x="0" y="7865"/>
                    <a:pt x="7865" y="0"/>
                    <a:pt x="17597" y="0"/>
                  </a:cubicBezTo>
                  <a:lnTo>
                    <a:pt x="136383" y="0"/>
                  </a:lnTo>
                  <a:cubicBezTo>
                    <a:pt x="146114" y="0"/>
                    <a:pt x="153980" y="7865"/>
                    <a:pt x="153980" y="17597"/>
                  </a:cubicBezTo>
                  <a:cubicBezTo>
                    <a:pt x="153980" y="27328"/>
                    <a:pt x="146114" y="35193"/>
                    <a:pt x="136383" y="35193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3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 dirty="0">
                <a:latin typeface="72 Brand" panose="020B0504030603020204" pitchFamily="34" charset="0"/>
              </a:endParaRPr>
            </a:p>
          </p:txBody>
        </p:sp>
        <p:sp>
          <p:nvSpPr>
            <p:cNvPr id="18" name="Freeform 29">
              <a:extLst>
                <a:ext uri="{FF2B5EF4-FFF2-40B4-BE49-F238E27FC236}">
                  <a16:creationId xmlns:a16="http://schemas.microsoft.com/office/drawing/2014/main" id="{EE6CA7E5-CED0-6026-E782-7ED4E12A8ABA}"/>
                </a:ext>
              </a:extLst>
            </p:cNvPr>
            <p:cNvSpPr/>
            <p:nvPr/>
          </p:nvSpPr>
          <p:spPr>
            <a:xfrm>
              <a:off x="2384048" y="1120331"/>
              <a:ext cx="140809" cy="351969"/>
            </a:xfrm>
            <a:custGeom>
              <a:avLst/>
              <a:gdLst>
                <a:gd name="connsiteX0" fmla="*/ 70423 w 140809"/>
                <a:gd name="connsiteY0" fmla="*/ 351969 h 351969"/>
                <a:gd name="connsiteX1" fmla="*/ 70350 w 140809"/>
                <a:gd name="connsiteY1" fmla="*/ 351969 h 351969"/>
                <a:gd name="connsiteX2" fmla="*/ 57948 w 140809"/>
                <a:gd name="connsiteY2" fmla="*/ 346811 h 351969"/>
                <a:gd name="connsiteX3" fmla="*/ 5158 w 140809"/>
                <a:gd name="connsiteY3" fmla="*/ 294021 h 351969"/>
                <a:gd name="connsiteX4" fmla="*/ 5158 w 140809"/>
                <a:gd name="connsiteY4" fmla="*/ 269144 h 351969"/>
                <a:gd name="connsiteX5" fmla="*/ 30035 w 140809"/>
                <a:gd name="connsiteY5" fmla="*/ 269144 h 351969"/>
                <a:gd name="connsiteX6" fmla="*/ 52790 w 140809"/>
                <a:gd name="connsiteY6" fmla="*/ 291899 h 351969"/>
                <a:gd name="connsiteX7" fmla="*/ 52790 w 140809"/>
                <a:gd name="connsiteY7" fmla="*/ 60070 h 351969"/>
                <a:gd name="connsiteX8" fmla="*/ 30035 w 140809"/>
                <a:gd name="connsiteY8" fmla="*/ 82825 h 351969"/>
                <a:gd name="connsiteX9" fmla="*/ 5158 w 140809"/>
                <a:gd name="connsiteY9" fmla="*/ 82825 h 351969"/>
                <a:gd name="connsiteX10" fmla="*/ 5158 w 140809"/>
                <a:gd name="connsiteY10" fmla="*/ 57948 h 351969"/>
                <a:gd name="connsiteX11" fmla="*/ 57948 w 140809"/>
                <a:gd name="connsiteY11" fmla="*/ 5158 h 351969"/>
                <a:gd name="connsiteX12" fmla="*/ 70387 w 140809"/>
                <a:gd name="connsiteY12" fmla="*/ 0 h 351969"/>
                <a:gd name="connsiteX13" fmla="*/ 70496 w 140809"/>
                <a:gd name="connsiteY13" fmla="*/ 0 h 351969"/>
                <a:gd name="connsiteX14" fmla="*/ 82861 w 140809"/>
                <a:gd name="connsiteY14" fmla="*/ 5158 h 351969"/>
                <a:gd name="connsiteX15" fmla="*/ 135651 w 140809"/>
                <a:gd name="connsiteY15" fmla="*/ 57948 h 351969"/>
                <a:gd name="connsiteX16" fmla="*/ 135651 w 140809"/>
                <a:gd name="connsiteY16" fmla="*/ 82825 h 351969"/>
                <a:gd name="connsiteX17" fmla="*/ 110775 w 140809"/>
                <a:gd name="connsiteY17" fmla="*/ 82825 h 351969"/>
                <a:gd name="connsiteX18" fmla="*/ 88020 w 140809"/>
                <a:gd name="connsiteY18" fmla="*/ 60070 h 351969"/>
                <a:gd name="connsiteX19" fmla="*/ 88020 w 140809"/>
                <a:gd name="connsiteY19" fmla="*/ 291863 h 351969"/>
                <a:gd name="connsiteX20" fmla="*/ 110775 w 140809"/>
                <a:gd name="connsiteY20" fmla="*/ 269108 h 351969"/>
                <a:gd name="connsiteX21" fmla="*/ 135651 w 140809"/>
                <a:gd name="connsiteY21" fmla="*/ 269108 h 351969"/>
                <a:gd name="connsiteX22" fmla="*/ 135651 w 140809"/>
                <a:gd name="connsiteY22" fmla="*/ 293985 h 351969"/>
                <a:gd name="connsiteX23" fmla="*/ 82861 w 140809"/>
                <a:gd name="connsiteY23" fmla="*/ 346774 h 351969"/>
                <a:gd name="connsiteX24" fmla="*/ 70496 w 140809"/>
                <a:gd name="connsiteY24" fmla="*/ 351933 h 351969"/>
                <a:gd name="connsiteX25" fmla="*/ 70387 w 140809"/>
                <a:gd name="connsiteY25" fmla="*/ 351933 h 35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809" h="351969">
                  <a:moveTo>
                    <a:pt x="70423" y="351969"/>
                  </a:moveTo>
                  <a:lnTo>
                    <a:pt x="70350" y="351969"/>
                  </a:lnTo>
                  <a:cubicBezTo>
                    <a:pt x="65521" y="351969"/>
                    <a:pt x="61131" y="349994"/>
                    <a:pt x="57948" y="346811"/>
                  </a:cubicBezTo>
                  <a:lnTo>
                    <a:pt x="5158" y="294021"/>
                  </a:lnTo>
                  <a:cubicBezTo>
                    <a:pt x="-1719" y="287143"/>
                    <a:pt x="-1719" y="276022"/>
                    <a:pt x="5158" y="269144"/>
                  </a:cubicBezTo>
                  <a:cubicBezTo>
                    <a:pt x="12036" y="262267"/>
                    <a:pt x="23157" y="262267"/>
                    <a:pt x="30035" y="269144"/>
                  </a:cubicBezTo>
                  <a:lnTo>
                    <a:pt x="52790" y="291899"/>
                  </a:lnTo>
                  <a:lnTo>
                    <a:pt x="52790" y="60070"/>
                  </a:lnTo>
                  <a:lnTo>
                    <a:pt x="30035" y="82825"/>
                  </a:lnTo>
                  <a:cubicBezTo>
                    <a:pt x="23157" y="89703"/>
                    <a:pt x="12036" y="89703"/>
                    <a:pt x="5158" y="82825"/>
                  </a:cubicBezTo>
                  <a:cubicBezTo>
                    <a:pt x="-1719" y="75947"/>
                    <a:pt x="-1719" y="64826"/>
                    <a:pt x="5158" y="57948"/>
                  </a:cubicBezTo>
                  <a:lnTo>
                    <a:pt x="57948" y="5158"/>
                  </a:lnTo>
                  <a:cubicBezTo>
                    <a:pt x="61131" y="1976"/>
                    <a:pt x="65960" y="0"/>
                    <a:pt x="70387" y="0"/>
                  </a:cubicBezTo>
                  <a:lnTo>
                    <a:pt x="70496" y="0"/>
                  </a:lnTo>
                  <a:cubicBezTo>
                    <a:pt x="75325" y="0"/>
                    <a:pt x="79679" y="2012"/>
                    <a:pt x="82861" y="5158"/>
                  </a:cubicBezTo>
                  <a:lnTo>
                    <a:pt x="135651" y="57948"/>
                  </a:lnTo>
                  <a:cubicBezTo>
                    <a:pt x="142529" y="64826"/>
                    <a:pt x="142529" y="75947"/>
                    <a:pt x="135651" y="82825"/>
                  </a:cubicBezTo>
                  <a:cubicBezTo>
                    <a:pt x="128774" y="89703"/>
                    <a:pt x="117652" y="89703"/>
                    <a:pt x="110775" y="82825"/>
                  </a:cubicBezTo>
                  <a:lnTo>
                    <a:pt x="88020" y="60070"/>
                  </a:lnTo>
                  <a:lnTo>
                    <a:pt x="88020" y="291863"/>
                  </a:lnTo>
                  <a:lnTo>
                    <a:pt x="110775" y="269108"/>
                  </a:lnTo>
                  <a:cubicBezTo>
                    <a:pt x="117652" y="262230"/>
                    <a:pt x="128774" y="262230"/>
                    <a:pt x="135651" y="269108"/>
                  </a:cubicBezTo>
                  <a:cubicBezTo>
                    <a:pt x="142529" y="275985"/>
                    <a:pt x="142529" y="287107"/>
                    <a:pt x="135651" y="293985"/>
                  </a:cubicBezTo>
                  <a:lnTo>
                    <a:pt x="82861" y="346774"/>
                  </a:lnTo>
                  <a:cubicBezTo>
                    <a:pt x="79715" y="349957"/>
                    <a:pt x="75325" y="351933"/>
                    <a:pt x="70496" y="351933"/>
                  </a:cubicBezTo>
                  <a:lnTo>
                    <a:pt x="70387" y="351933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3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 dirty="0">
                <a:latin typeface="72 Brand" panose="020B0504030603020204" pitchFamily="34" charset="0"/>
              </a:endParaRPr>
            </a:p>
          </p:txBody>
        </p:sp>
      </p:grpSp>
      <p:pic>
        <p:nvPicPr>
          <p:cNvPr id="19" name="Picture 1">
            <a:extLst>
              <a:ext uri="{FF2B5EF4-FFF2-40B4-BE49-F238E27FC236}">
                <a16:creationId xmlns:a16="http://schemas.microsoft.com/office/drawing/2014/main" id="{6D8B481C-EC7F-A58B-8E39-477974AA17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4000"/>
          </a:blip>
          <a:stretch>
            <a:fillRect/>
          </a:stretch>
        </p:blipFill>
        <p:spPr>
          <a:xfrm>
            <a:off x="5070711" y="6072373"/>
            <a:ext cx="3390433" cy="490392"/>
          </a:xfrm>
          <a:prstGeom prst="rect">
            <a:avLst/>
          </a:prstGeom>
        </p:spPr>
      </p:pic>
      <p:sp>
        <p:nvSpPr>
          <p:cNvPr id="20" name="TextBox 5">
            <a:extLst>
              <a:ext uri="{FF2B5EF4-FFF2-40B4-BE49-F238E27FC236}">
                <a16:creationId xmlns:a16="http://schemas.microsoft.com/office/drawing/2014/main" id="{31E814BB-0836-231F-FFE8-1AA5E4F92FDD}"/>
              </a:ext>
            </a:extLst>
          </p:cNvPr>
          <p:cNvSpPr txBox="1"/>
          <p:nvPr/>
        </p:nvSpPr>
        <p:spPr>
          <a:xfrm>
            <a:off x="4518885" y="1239779"/>
            <a:ext cx="3238152" cy="4854033"/>
          </a:xfrm>
          <a:prstGeom prst="roundRect">
            <a:avLst>
              <a:gd name="adj" fmla="val 52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640" rtlCol="0" anchor="ctr" anchorCtr="0">
            <a:noAutofit/>
          </a:bodyPr>
          <a:lstStyle/>
          <a:p>
            <a:pPr marL="0" marR="0" lvl="0" indent="0" algn="ctr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1A2733"/>
              </a:solidFill>
              <a:effectLst/>
              <a:uLnTx/>
              <a:uFillTx/>
              <a:latin typeface="72 Brand Book" panose="020B0404030603020204" pitchFamily="34" charset="0"/>
              <a:ea typeface="+mn-ea"/>
              <a:cs typeface="72" panose="020B0503030000000003" pitchFamily="34" charset="0"/>
            </a:endParaRPr>
          </a:p>
        </p:txBody>
      </p:sp>
      <p:sp>
        <p:nvSpPr>
          <p:cNvPr id="21" name="Round Same Side Corner Rectangle 99">
            <a:extLst>
              <a:ext uri="{FF2B5EF4-FFF2-40B4-BE49-F238E27FC236}">
                <a16:creationId xmlns:a16="http://schemas.microsoft.com/office/drawing/2014/main" id="{CE4E3CD6-1314-D440-35D2-77CAABCB39BF}"/>
              </a:ext>
            </a:extLst>
          </p:cNvPr>
          <p:cNvSpPr/>
          <p:nvPr/>
        </p:nvSpPr>
        <p:spPr bwMode="gray">
          <a:xfrm>
            <a:off x="4533944" y="1239779"/>
            <a:ext cx="3225799" cy="698951"/>
          </a:xfrm>
          <a:prstGeom prst="round2SameRect">
            <a:avLst>
              <a:gd name="adj1" fmla="val 29824"/>
              <a:gd name="adj2" fmla="val 0"/>
            </a:avLst>
          </a:prstGeom>
          <a:solidFill>
            <a:srgbClr val="00144A"/>
          </a:solidFill>
          <a:ln w="25400" algn="ctr">
            <a:solidFill>
              <a:srgbClr val="002A86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997C538D-AE9B-062F-DCB1-1F822D844FBD}"/>
              </a:ext>
            </a:extLst>
          </p:cNvPr>
          <p:cNvSpPr txBox="1"/>
          <p:nvPr/>
        </p:nvSpPr>
        <p:spPr>
          <a:xfrm>
            <a:off x="5131559" y="1401825"/>
            <a:ext cx="2522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72" panose="020B0503030000000003" pitchFamily="34" charset="0"/>
              </a:rPr>
              <a:t>UI5 linter in Action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416A21B-2139-67F4-AC34-7B476BFFE033}"/>
              </a:ext>
            </a:extLst>
          </p:cNvPr>
          <p:cNvSpPr txBox="1"/>
          <p:nvPr/>
        </p:nvSpPr>
        <p:spPr>
          <a:xfrm>
            <a:off x="4533944" y="2369184"/>
            <a:ext cx="3223093" cy="3231654"/>
          </a:xfrm>
          <a:prstGeom prst="rect">
            <a:avLst/>
          </a:prstGeom>
          <a:noFill/>
        </p:spPr>
        <p:txBody>
          <a:bodyPr wrap="square" lIns="18288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1200"/>
              </a:spcAft>
              <a:buClr>
                <a:schemeClr val="tx1"/>
              </a:buClr>
              <a:buSzPct val="85000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UI5 linter scans your UI5 code</a:t>
            </a:r>
            <a:b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</a:b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(JavaScript, TypeScript, XML,</a:t>
            </a:r>
            <a:b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</a:b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JSON, and other files) for:</a:t>
            </a:r>
          </a:p>
          <a:p>
            <a:pPr marL="171450" indent="-171450" fontAlgn="base">
              <a:spcAft>
                <a:spcPts val="12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Usage of deprecated libraries</a:t>
            </a:r>
          </a:p>
          <a:p>
            <a:pPr marL="171450" indent="-171450" fontAlgn="base">
              <a:spcAft>
                <a:spcPts val="12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Usage of deprecated</a:t>
            </a:r>
            <a:b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</a:b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framework APIs</a:t>
            </a:r>
          </a:p>
          <a:p>
            <a:pPr marL="171450" indent="-171450" fontAlgn="base">
              <a:spcAft>
                <a:spcPts val="12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Usage of global variables</a:t>
            </a:r>
          </a:p>
          <a:p>
            <a:pPr marL="171450" indent="-171450" fontAlgn="base">
              <a:spcAft>
                <a:spcPts val="12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Possible CSP violations</a:t>
            </a:r>
          </a:p>
          <a:p>
            <a:pPr marL="171450" indent="-171450" fontAlgn="base">
              <a:spcAft>
                <a:spcPts val="12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Deprecated component</a:t>
            </a:r>
            <a:b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</a:br>
            <a:r>
              <a:rPr lang="en-US" sz="1600" kern="0" dirty="0">
                <a:solidFill>
                  <a:srgbClr val="000000"/>
                </a:solidFill>
                <a:latin typeface="72 Brand" panose="020B0504030603020204" pitchFamily="34" charset="0"/>
                <a:ea typeface="Arial Unicode MS"/>
                <a:cs typeface="Arial"/>
              </a:rPr>
              <a:t>and manifest configurations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85A36898-341C-BF8C-4035-52BA2939DF72}"/>
              </a:ext>
            </a:extLst>
          </p:cNvPr>
          <p:cNvSpPr txBox="1"/>
          <p:nvPr/>
        </p:nvSpPr>
        <p:spPr>
          <a:xfrm>
            <a:off x="4527308" y="1239779"/>
            <a:ext cx="3238152" cy="4854033"/>
          </a:xfrm>
          <a:prstGeom prst="roundRect">
            <a:avLst>
              <a:gd name="adj" fmla="val 5289"/>
            </a:avLst>
          </a:prstGeom>
          <a:noFill/>
          <a:ln>
            <a:solidFill>
              <a:srgbClr val="002A8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640" rtlCol="0" anchor="ctr" anchorCtr="0">
            <a:noAutofit/>
          </a:bodyPr>
          <a:lstStyle/>
          <a:p>
            <a:pPr marL="0" marR="0" lvl="0" indent="0" algn="ctr" defTabSz="9131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1A2733"/>
              </a:solidFill>
              <a:effectLst/>
              <a:uLnTx/>
              <a:uFillTx/>
              <a:latin typeface="72 Brand Book" panose="020B0404030603020204" pitchFamily="34" charset="0"/>
              <a:ea typeface="+mn-ea"/>
              <a:cs typeface="72" panose="020B0503030000000003" pitchFamily="34" charset="0"/>
            </a:endParaRPr>
          </a:p>
        </p:txBody>
      </p:sp>
      <p:pic>
        <p:nvPicPr>
          <p:cNvPr id="25" name="Picture 40" descr="A white and black logo&#10;&#10;Description automatically generated">
            <a:extLst>
              <a:ext uri="{FF2B5EF4-FFF2-40B4-BE49-F238E27FC236}">
                <a16:creationId xmlns:a16="http://schemas.microsoft.com/office/drawing/2014/main" id="{92BF799B-A972-5E52-4093-494D6E24C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622" y="1431368"/>
            <a:ext cx="339789" cy="339789"/>
          </a:xfrm>
          <a:prstGeom prst="rect">
            <a:avLst/>
          </a:prstGeom>
        </p:spPr>
      </p:pic>
      <p:pic>
        <p:nvPicPr>
          <p:cNvPr id="26" name="Picture 42" descr="A close-up of a pair of construction workers&#10;&#10;Description automatically generated">
            <a:extLst>
              <a:ext uri="{FF2B5EF4-FFF2-40B4-BE49-F238E27FC236}">
                <a16:creationId xmlns:a16="http://schemas.microsoft.com/office/drawing/2014/main" id="{66F364E1-5EC4-334D-420A-357A55DD8E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281" r="5141"/>
          <a:stretch/>
        </p:blipFill>
        <p:spPr>
          <a:xfrm>
            <a:off x="8656381" y="1199171"/>
            <a:ext cx="3538794" cy="4859314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F5151D1-B7C1-CBA0-255D-2E654216BB51}"/>
              </a:ext>
            </a:extLst>
          </p:cNvPr>
          <p:cNvSpPr txBox="1">
            <a:spLocks/>
          </p:cNvSpPr>
          <p:nvPr/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457189" indent="-457189" algn="l" defTabSz="916494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8C"/>
              </a:buClr>
              <a:buFont typeface="Wingdings" pitchFamily="2" charset="2"/>
              <a:defRPr sz="2400" b="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82588" indent="-239178" algn="r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400">
                <a:solidFill>
                  <a:srgbClr val="DE7008"/>
                </a:solidFill>
                <a:latin typeface="+mj-lt"/>
              </a:defRPr>
            </a:lvl2pPr>
            <a:lvl3pPr marL="956709" indent="-237061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rgbClr val="DE7008"/>
                </a:solidFill>
                <a:latin typeface="+mj-lt"/>
              </a:defRPr>
            </a:lvl3pPr>
            <a:lvl4pPr marL="2357908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400">
                <a:solidFill>
                  <a:srgbClr val="DE7008"/>
                </a:solidFill>
                <a:latin typeface="+mj-lt"/>
              </a:defRPr>
            </a:lvl4pPr>
            <a:lvl5pPr marL="2973843" indent="-361942" algn="r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2400">
                <a:solidFill>
                  <a:srgbClr val="DE7008"/>
                </a:solidFill>
                <a:latin typeface="+mj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r>
              <a:rPr lang="en-US" sz="2000" kern="0" dirty="0"/>
              <a:t>SAPUI5 Best Practices: Static Code Analysis with UI5 Linter</a:t>
            </a:r>
          </a:p>
        </p:txBody>
      </p:sp>
    </p:spTree>
    <p:extLst>
      <p:ext uri="{BB962C8B-B14F-4D97-AF65-F5344CB8AC3E}">
        <p14:creationId xmlns:p14="http://schemas.microsoft.com/office/powerpoint/2010/main" val="116355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9968C-8ADD-B3C0-E589-4F5956ECC7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Exercise: </a:t>
            </a:r>
            <a:r>
              <a:rPr lang="en-US" noProof="1">
                <a:hlinkClick r:id="rId2"/>
              </a:rPr>
              <a:t>https://github.com/SAP-samples/teched2025-AD166</a:t>
            </a:r>
            <a:r>
              <a:rPr lang="en-US" noProof="1"/>
              <a:t> </a:t>
            </a:r>
          </a:p>
          <a:p>
            <a:endParaRPr lang="en-US" noProof="1"/>
          </a:p>
          <a:p>
            <a:r>
              <a:rPr lang="en-US" noProof="1"/>
              <a:t>User: 		AD166-</a:t>
            </a:r>
            <a:r>
              <a:rPr lang="en-US" noProof="1">
                <a:solidFill>
                  <a:srgbClr val="FF0000"/>
                </a:solidFill>
              </a:rPr>
              <a:t>001</a:t>
            </a:r>
            <a:r>
              <a:rPr lang="en-US" noProof="1"/>
              <a:t>@education.cloud.sap</a:t>
            </a:r>
            <a:br>
              <a:rPr lang="en-US" noProof="1"/>
            </a:br>
            <a:r>
              <a:rPr lang="en-US" noProof="1"/>
              <a:t>     		…</a:t>
            </a:r>
            <a:br>
              <a:rPr lang="en-US" noProof="1"/>
            </a:br>
            <a:r>
              <a:rPr lang="en-US" noProof="1"/>
              <a:t>     		AD166-</a:t>
            </a:r>
            <a:r>
              <a:rPr lang="en-US" noProof="1">
                <a:solidFill>
                  <a:srgbClr val="FF0000"/>
                </a:solidFill>
              </a:rPr>
              <a:t>040</a:t>
            </a:r>
            <a:r>
              <a:rPr lang="en-US" noProof="1"/>
              <a:t>@education.cloud.sap</a:t>
            </a:r>
          </a:p>
          <a:p>
            <a:r>
              <a:rPr lang="en-US" noProof="1"/>
              <a:t>Password:	Dsag2026onTour!</a:t>
            </a:r>
          </a:p>
          <a:p>
            <a:endParaRPr lang="en-US" noProof="1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2904BD-774E-6211-08F0-6DDB9F8018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noProof="1"/>
              <a:t>Access to Exercise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6DC569B-2DFB-7E89-5723-17A1CA937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241" y="2142527"/>
            <a:ext cx="2572946" cy="257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96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9C38-BF6E-CFF3-36C7-C7AF56EE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980C1F21-01B1-5091-583B-2AE26F2894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>
            <a:off x="564214" y="5390301"/>
            <a:ext cx="10310566" cy="49013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A7CA91B-03F2-541E-54E5-D62325AA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>
            <a:off x="564214" y="3950969"/>
            <a:ext cx="10310566" cy="49013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A66FC9A-B23A-ED86-62DB-41C722BF09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>
            <a:off x="564214" y="2522823"/>
            <a:ext cx="10310566" cy="49013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59E26719-D8DC-B6EC-1064-19E0CC3586AF}"/>
              </a:ext>
            </a:extLst>
          </p:cNvPr>
          <p:cNvSpPr txBox="1"/>
          <p:nvPr/>
        </p:nvSpPr>
        <p:spPr>
          <a:xfrm>
            <a:off x="727180" y="1721107"/>
            <a:ext cx="10310565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CF1358-67DE-7F5B-1871-9EE8FE503160}"/>
              </a:ext>
            </a:extLst>
          </p:cNvPr>
          <p:cNvSpPr txBox="1"/>
          <p:nvPr/>
        </p:nvSpPr>
        <p:spPr>
          <a:xfrm>
            <a:off x="727180" y="3142992"/>
            <a:ext cx="10310565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16462F-600B-7059-41E6-8785CB2D5B01}"/>
              </a:ext>
            </a:extLst>
          </p:cNvPr>
          <p:cNvSpPr txBox="1"/>
          <p:nvPr/>
        </p:nvSpPr>
        <p:spPr>
          <a:xfrm>
            <a:off x="727180" y="4594843"/>
            <a:ext cx="10310565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9B4247-BAA4-DD0B-A7A9-3AE5BFDFE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D6DC1F-08FE-EEA2-D116-A9A9A852763C}"/>
              </a:ext>
            </a:extLst>
          </p:cNvPr>
          <p:cNvSpPr txBox="1"/>
          <p:nvPr/>
        </p:nvSpPr>
        <p:spPr>
          <a:xfrm>
            <a:off x="564215" y="1721107"/>
            <a:ext cx="6039356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779BC-BC2E-5B24-3C50-79A4D9FBEE4C}"/>
              </a:ext>
            </a:extLst>
          </p:cNvPr>
          <p:cNvSpPr txBox="1"/>
          <p:nvPr/>
        </p:nvSpPr>
        <p:spPr>
          <a:xfrm>
            <a:off x="2931630" y="2016829"/>
            <a:ext cx="2484117" cy="409129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 panose="020B0604020202020204" pitchFamily="34" charset="0"/>
              </a:rPr>
              <a:t>Start your 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 panose="020B0604020202020204" pitchFamily="34" charset="0"/>
                <a:hlinkClick r:id="rId3"/>
              </a:rPr>
              <a:t>free trial of SAP Build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 panose="020B0604020202020204" pitchFamily="34" charset="0"/>
              </a:rPr>
              <a:t> now</a:t>
            </a:r>
            <a:endParaRPr lang="en-US" sz="1400" dirty="0">
              <a:solidFill>
                <a:srgbClr val="000000"/>
              </a:solidFill>
              <a:latin typeface="72 Brand Medium"/>
              <a:cs typeface="Arial" panose="020B0604020202020204" pitchFamily="34" charset="0"/>
            </a:endParaRP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81B8D249-90C1-CF1E-02F7-A2FA9DC16ED6}"/>
              </a:ext>
            </a:extLst>
          </p:cNvPr>
          <p:cNvSpPr/>
          <p:nvPr/>
        </p:nvSpPr>
        <p:spPr bwMode="gray">
          <a:xfrm rot="16200000">
            <a:off x="1155575" y="1129747"/>
            <a:ext cx="1059025" cy="2241745"/>
          </a:xfrm>
          <a:prstGeom prst="round2SameRect">
            <a:avLst>
              <a:gd name="adj1" fmla="val 14994"/>
              <a:gd name="adj2" fmla="val 0"/>
            </a:avLst>
          </a:prstGeom>
          <a:solidFill>
            <a:srgbClr val="0070F2"/>
          </a:solidFill>
          <a:ln w="25400" algn="ctr">
            <a:solidFill>
              <a:srgbClr val="0070F2"/>
            </a:solidFill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1798" kern="0" dirty="0">
              <a:solidFill>
                <a:srgbClr val="000000"/>
              </a:solidFill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ED3DE4-DA4B-B46B-304E-9CA97023E10C}"/>
              </a:ext>
            </a:extLst>
          </p:cNvPr>
          <p:cNvSpPr txBox="1"/>
          <p:nvPr/>
        </p:nvSpPr>
        <p:spPr>
          <a:xfrm>
            <a:off x="1104215" y="1927622"/>
            <a:ext cx="1925390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2573">
              <a:defRPr/>
            </a:pPr>
            <a:r>
              <a:rPr lang="en-US" sz="1698" kern="0" dirty="0">
                <a:solidFill>
                  <a:srgbClr val="FFFFFF"/>
                </a:solidFill>
                <a:latin typeface="72 Brand Medium"/>
                <a:cs typeface="72" panose="020B0503030000000003" pitchFamily="34" charset="0"/>
              </a:rPr>
              <a:t>Get started </a:t>
            </a:r>
            <a:br>
              <a:rPr lang="en-US" sz="1698" kern="0" dirty="0">
                <a:solidFill>
                  <a:srgbClr val="FFFFFF"/>
                </a:solidFill>
                <a:latin typeface="72 Brand Medium"/>
                <a:cs typeface="72" panose="020B0503030000000003" pitchFamily="34" charset="0"/>
              </a:rPr>
            </a:br>
            <a:r>
              <a:rPr lang="en-US" sz="1698" kern="0" dirty="0">
                <a:solidFill>
                  <a:srgbClr val="FFFFFF"/>
                </a:solidFill>
                <a:latin typeface="72 Brand Medium"/>
                <a:cs typeface="72" panose="020B0503030000000003" pitchFamily="34" charset="0"/>
              </a:rPr>
              <a:t>at no cost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D55F2B4-7D3F-C9E9-48C2-5CD685E17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571" y="2104702"/>
            <a:ext cx="291830" cy="2918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BC2B7F-3F3E-CC88-124C-1886399F55D3}"/>
              </a:ext>
            </a:extLst>
          </p:cNvPr>
          <p:cNvSpPr txBox="1"/>
          <p:nvPr/>
        </p:nvSpPr>
        <p:spPr>
          <a:xfrm>
            <a:off x="6727561" y="2016829"/>
            <a:ext cx="3178115" cy="409129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Activate your Build entitlements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included in your RISE for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SAP offering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B3DA7A8-0EB9-5CBC-2C61-C43501BE7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9380" y="1921167"/>
            <a:ext cx="658905" cy="6589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C48D68-E078-DE5D-8B01-B58A352F32BB}"/>
              </a:ext>
            </a:extLst>
          </p:cNvPr>
          <p:cNvSpPr txBox="1"/>
          <p:nvPr/>
        </p:nvSpPr>
        <p:spPr>
          <a:xfrm>
            <a:off x="564215" y="3142992"/>
            <a:ext cx="6039356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A2272-F3EF-2154-0807-9EAD6685F59A}"/>
              </a:ext>
            </a:extLst>
          </p:cNvPr>
          <p:cNvSpPr txBox="1"/>
          <p:nvPr/>
        </p:nvSpPr>
        <p:spPr>
          <a:xfrm>
            <a:off x="2931631" y="3438715"/>
            <a:ext cx="1925390" cy="409129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Visit 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Build for S/4HANA Page</a:t>
            </a:r>
            <a:endParaRPr lang="en-US" sz="1400" dirty="0">
              <a:solidFill>
                <a:srgbClr val="0070F2"/>
              </a:solidFill>
              <a:latin typeface="72 Brand Medium"/>
              <a:cs typeface="Arial" panose="020B0604020202020204" pitchFamily="34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5602E696-4128-2E9D-AB47-0982BA90B179}"/>
              </a:ext>
            </a:extLst>
          </p:cNvPr>
          <p:cNvSpPr/>
          <p:nvPr/>
        </p:nvSpPr>
        <p:spPr bwMode="gray">
          <a:xfrm rot="16200000">
            <a:off x="1155575" y="2551632"/>
            <a:ext cx="1059025" cy="2241745"/>
          </a:xfrm>
          <a:prstGeom prst="round2SameRect">
            <a:avLst>
              <a:gd name="adj1" fmla="val 14994"/>
              <a:gd name="adj2" fmla="val 0"/>
            </a:avLst>
          </a:prstGeom>
          <a:solidFill>
            <a:srgbClr val="0057D2"/>
          </a:solidFill>
          <a:ln w="25400" algn="ctr">
            <a:solidFill>
              <a:srgbClr val="0057D2"/>
            </a:solidFill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1798" kern="0" dirty="0">
              <a:solidFill>
                <a:srgbClr val="000000"/>
              </a:solidFill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FB8CF6-642F-8147-352F-A1382460FCB7}"/>
              </a:ext>
            </a:extLst>
          </p:cNvPr>
          <p:cNvSpPr txBox="1"/>
          <p:nvPr/>
        </p:nvSpPr>
        <p:spPr>
          <a:xfrm>
            <a:off x="1104215" y="3487934"/>
            <a:ext cx="1925390" cy="35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2573">
              <a:defRPr/>
            </a:pPr>
            <a:r>
              <a:rPr lang="en-US" sz="1698" kern="0" dirty="0">
                <a:solidFill>
                  <a:srgbClr val="FFFFFF"/>
                </a:solidFill>
                <a:latin typeface="72 Brand Medium"/>
                <a:cs typeface="72" panose="020B0503030000000003" pitchFamily="34" charset="0"/>
              </a:rPr>
              <a:t>Learn more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FD993-33F8-1671-6A76-311CE3B04195}"/>
              </a:ext>
            </a:extLst>
          </p:cNvPr>
          <p:cNvSpPr txBox="1"/>
          <p:nvPr/>
        </p:nvSpPr>
        <p:spPr>
          <a:xfrm>
            <a:off x="6727561" y="3540996"/>
            <a:ext cx="3661955" cy="204565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Try the 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Build Learning journey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14F9721-C736-9F10-EE99-9AC488F51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944" y="3512275"/>
            <a:ext cx="320458" cy="32045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045AE18-A5A7-A5B6-0893-C46844BC0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687" y="3343051"/>
            <a:ext cx="658904" cy="65890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6E9576E-0F21-5706-4F7E-6488FD166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19378" y="3343051"/>
            <a:ext cx="658904" cy="65890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C0D6EF7-6849-BC58-8C8F-4F8AC955122F}"/>
              </a:ext>
            </a:extLst>
          </p:cNvPr>
          <p:cNvSpPr txBox="1"/>
          <p:nvPr/>
        </p:nvSpPr>
        <p:spPr>
          <a:xfrm>
            <a:off x="564215" y="4594843"/>
            <a:ext cx="6039356" cy="1059025"/>
          </a:xfrm>
          <a:prstGeom prst="roundRect">
            <a:avLst>
              <a:gd name="adj" fmla="val 1487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548354" rtlCol="0" anchor="ctr" anchorCtr="0">
            <a:noAutofit/>
          </a:bodyPr>
          <a:lstStyle/>
          <a:p>
            <a:pPr algn="ctr" defTabSz="912573">
              <a:defRPr/>
            </a:pPr>
            <a:endParaRPr lang="en-US" sz="1998" kern="0" dirty="0">
              <a:solidFill>
                <a:srgbClr val="1A2733"/>
              </a:solidFill>
              <a:latin typeface="72 Brand Book" panose="020B0404030603020204" pitchFamily="34" charset="0"/>
              <a:cs typeface="72" panose="020B05030300000000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84CBDB-CF1A-2D7D-B7BF-79A362FA2456}"/>
              </a:ext>
            </a:extLst>
          </p:cNvPr>
          <p:cNvSpPr txBox="1"/>
          <p:nvPr/>
        </p:nvSpPr>
        <p:spPr>
          <a:xfrm>
            <a:off x="2931630" y="4799233"/>
            <a:ext cx="2753543" cy="613694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Explore pre-built content for </a:t>
            </a:r>
            <a:b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</a:b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SAP S/4HANA Cloud from the 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Build Store</a:t>
            </a:r>
            <a:endParaRPr lang="en-US" sz="1400" dirty="0">
              <a:solidFill>
                <a:srgbClr val="0070F2"/>
              </a:solidFill>
              <a:latin typeface="72 Brand Medium"/>
              <a:cs typeface="Arial" panose="020B0604020202020204" pitchFamily="34" charset="0"/>
            </a:endParaRP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E113ECD8-08CC-4989-870A-734A7D8F54FE}"/>
              </a:ext>
            </a:extLst>
          </p:cNvPr>
          <p:cNvSpPr/>
          <p:nvPr/>
        </p:nvSpPr>
        <p:spPr bwMode="gray">
          <a:xfrm rot="16200000">
            <a:off x="1155575" y="4003483"/>
            <a:ext cx="1059025" cy="2241745"/>
          </a:xfrm>
          <a:prstGeom prst="round2SameRect">
            <a:avLst>
              <a:gd name="adj1" fmla="val 14994"/>
              <a:gd name="adj2" fmla="val 0"/>
            </a:avLst>
          </a:prstGeom>
          <a:solidFill>
            <a:srgbClr val="002A86"/>
          </a:solidFill>
          <a:ln w="25400" algn="ctr">
            <a:solidFill>
              <a:srgbClr val="002A86"/>
            </a:solidFill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1798" kern="0" dirty="0">
              <a:solidFill>
                <a:srgbClr val="000000"/>
              </a:solidFill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7EA10E-A067-7D9E-0EF9-DD7F40CB1530}"/>
              </a:ext>
            </a:extLst>
          </p:cNvPr>
          <p:cNvSpPr txBox="1"/>
          <p:nvPr/>
        </p:nvSpPr>
        <p:spPr>
          <a:xfrm>
            <a:off x="1104215" y="4801358"/>
            <a:ext cx="1925390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2573">
              <a:defRPr/>
            </a:pPr>
            <a:r>
              <a:rPr lang="en-US" sz="1698" kern="0" dirty="0">
                <a:solidFill>
                  <a:srgbClr val="FFFFFF"/>
                </a:solidFill>
                <a:latin typeface="72 Brand Medium"/>
              </a:rPr>
              <a:t>Accelerate development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DA6E81-16DE-A722-5722-78887BE11888}"/>
              </a:ext>
            </a:extLst>
          </p:cNvPr>
          <p:cNvSpPr txBox="1"/>
          <p:nvPr/>
        </p:nvSpPr>
        <p:spPr>
          <a:xfrm>
            <a:off x="6727558" y="4890566"/>
            <a:ext cx="3018498" cy="409129"/>
          </a:xfrm>
          <a:prstGeom prst="rect">
            <a:avLst/>
          </a:prstGeom>
          <a:noFill/>
        </p:spPr>
        <p:txBody>
          <a:bodyPr wrap="square" lIns="137088" tIns="0" rIns="0" bIns="0" rtlCol="0" anchor="t">
            <a:spAutoFit/>
          </a:bodyPr>
          <a:lstStyle/>
          <a:p>
            <a:pPr defTabSz="1088122">
              <a:lnSpc>
                <a:spcPct val="95000"/>
              </a:lnSpc>
              <a:spcAft>
                <a:spcPts val="1798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Check out 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 services</a:t>
            </a:r>
            <a:r>
              <a:rPr lang="en-US" sz="1400" dirty="0">
                <a:solidFill>
                  <a:srgbClr val="0070F2"/>
                </a:solidFill>
                <a:latin typeface="72 Brand Medium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cs typeface="Arial"/>
              </a:rPr>
              <a:t>available to help you get setup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08519F21-2CDB-81BF-E82E-A1EAC10EE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179" y="4962243"/>
            <a:ext cx="324222" cy="324222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244906EE-5FE4-5B92-0EF7-1CCC35A79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95691" y="4794904"/>
            <a:ext cx="658903" cy="658903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E2077062-C979-59F2-FC2E-93906F9D6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19382" y="4794904"/>
            <a:ext cx="658903" cy="658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24B59-E577-1F71-AC09-D5C9FD1E94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51675" y="1887645"/>
            <a:ext cx="746929" cy="743471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8B61498E-6AED-9B64-4B12-7AE7FE3960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r>
              <a:rPr lang="en-US" sz="2000" dirty="0"/>
              <a:t>Begin your extension journey today with SAP Build</a:t>
            </a:r>
          </a:p>
        </p:txBody>
      </p:sp>
    </p:spTree>
    <p:extLst>
      <p:ext uri="{BB962C8B-B14F-4D97-AF65-F5344CB8AC3E}">
        <p14:creationId xmlns:p14="http://schemas.microsoft.com/office/powerpoint/2010/main" val="328861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42B08F8-9523-8105-1CC9-917A7777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28"/>
          <a:stretch/>
        </p:blipFill>
        <p:spPr>
          <a:xfrm>
            <a:off x="-18844" y="1787"/>
            <a:ext cx="12209258" cy="685443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10F645-1284-870D-F0F9-2DA05E29463E}"/>
              </a:ext>
            </a:extLst>
          </p:cNvPr>
          <p:cNvSpPr/>
          <p:nvPr/>
        </p:nvSpPr>
        <p:spPr bwMode="gray">
          <a:xfrm>
            <a:off x="0" y="893"/>
            <a:ext cx="12209259" cy="685443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80000"/>
                </a:schemeClr>
              </a:gs>
              <a:gs pos="54000">
                <a:schemeClr val="bg1">
                  <a:alpha val="0"/>
                </a:schemeClr>
              </a:gs>
            </a:gsLst>
            <a:lin ang="108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1798" kern="0" dirty="0">
              <a:solidFill>
                <a:srgbClr val="000000"/>
              </a:solidFill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6D2A3E-5181-D93F-8A46-5B60D168BD17}"/>
              </a:ext>
            </a:extLst>
          </p:cNvPr>
          <p:cNvSpPr/>
          <p:nvPr/>
        </p:nvSpPr>
        <p:spPr bwMode="gray">
          <a:xfrm>
            <a:off x="1231106" y="1745507"/>
            <a:ext cx="3601554" cy="202366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088449" fontAlgn="base">
              <a:spcAft>
                <a:spcPts val="600"/>
              </a:spcAft>
              <a:buClr>
                <a:srgbClr val="F0AB00"/>
              </a:buClr>
              <a:buSzPct val="80000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 Medium"/>
                <a:ea typeface="Arial Unicode MS"/>
                <a:cs typeface="72" panose="020B0503030000000003" pitchFamily="34" charset="0"/>
              </a:rPr>
              <a:t>SAP Fiori, SAPUI5, SAP Fiori elements </a:t>
            </a:r>
          </a:p>
          <a:p>
            <a:pPr marL="179892" lvl="1" indent="-179892" defTabSz="1088122" fontAlgn="base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4"/>
              </a:rPr>
              <a:t>SAP Fiori Design Guidelines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 fontAlgn="base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72 Brand" panose="020B0504030603020204" pitchFamily="34" charset="0"/>
                <a:hlinkClick r:id="rId5"/>
              </a:rPr>
              <a:t>What is SAPUI5?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 fontAlgn="base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6"/>
              </a:rPr>
              <a:t>https://ui5.sap.com/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79892" lvl="1" indent="-179892" defTabSz="1088122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8"/>
              </a:rPr>
              <a:t>Flexible Programming Model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9"/>
              </a:rPr>
              <a:t>SAPUI5 Best Practices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0"/>
              </a:rPr>
              <a:t>SAPUI5 MCP Server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1"/>
              </a:rPr>
              <a:t>SAP Web Components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</a:endParaRPr>
          </a:p>
        </p:txBody>
      </p:sp>
      <p:sp>
        <p:nvSpPr>
          <p:cNvPr id="73" name="Title 72">
            <a:extLst>
              <a:ext uri="{FF2B5EF4-FFF2-40B4-BE49-F238E27FC236}">
                <a16:creationId xmlns:a16="http://schemas.microsoft.com/office/drawing/2014/main" id="{D8E2EAFE-3869-43C2-806F-620170A1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93" y="461773"/>
            <a:ext cx="11180652" cy="492186"/>
          </a:xfrm>
        </p:spPr>
        <p:txBody>
          <a:bodyPr/>
          <a:lstStyle/>
          <a:p>
            <a:r>
              <a:rPr lang="en-US" sz="3198" dirty="0">
                <a:solidFill>
                  <a:srgbClr val="0070F2"/>
                </a:solidFill>
                <a:latin typeface="+mj-lt"/>
              </a:rPr>
              <a:t>The Art and Science of SAPUI5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E5BDBCC-2FC0-F3CE-4DC3-FDCC50BD944C}"/>
              </a:ext>
            </a:extLst>
          </p:cNvPr>
          <p:cNvCxnSpPr>
            <a:cxnSpLocks/>
          </p:cNvCxnSpPr>
          <p:nvPr/>
        </p:nvCxnSpPr>
        <p:spPr>
          <a:xfrm>
            <a:off x="507292" y="4521013"/>
            <a:ext cx="519397" cy="0"/>
          </a:xfrm>
          <a:prstGeom prst="line">
            <a:avLst/>
          </a:prstGeom>
          <a:ln w="19050">
            <a:solidFill>
              <a:srgbClr val="0070F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A1FB64E-9285-5187-4984-29C97BC4246D}"/>
              </a:ext>
            </a:extLst>
          </p:cNvPr>
          <p:cNvCxnSpPr>
            <a:cxnSpLocks/>
          </p:cNvCxnSpPr>
          <p:nvPr/>
        </p:nvCxnSpPr>
        <p:spPr>
          <a:xfrm>
            <a:off x="507292" y="1930109"/>
            <a:ext cx="519397" cy="0"/>
          </a:xfrm>
          <a:prstGeom prst="line">
            <a:avLst/>
          </a:prstGeom>
          <a:ln w="19050">
            <a:solidFill>
              <a:srgbClr val="0070F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2D9B7A7-8F74-6302-2190-C90EB6E5960C}"/>
              </a:ext>
            </a:extLst>
          </p:cNvPr>
          <p:cNvCxnSpPr>
            <a:cxnSpLocks/>
          </p:cNvCxnSpPr>
          <p:nvPr/>
        </p:nvCxnSpPr>
        <p:spPr>
          <a:xfrm>
            <a:off x="7637810" y="1930109"/>
            <a:ext cx="519397" cy="0"/>
          </a:xfrm>
          <a:prstGeom prst="line">
            <a:avLst/>
          </a:prstGeom>
          <a:ln w="19050">
            <a:solidFill>
              <a:srgbClr val="0070F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6D4F0C-6B84-B5D6-93EA-86811F58BE9C}"/>
              </a:ext>
            </a:extLst>
          </p:cNvPr>
          <p:cNvSpPr txBox="1"/>
          <p:nvPr/>
        </p:nvSpPr>
        <p:spPr>
          <a:xfrm>
            <a:off x="507293" y="1634991"/>
            <a:ext cx="519395" cy="3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088122"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998" b="1" kern="0" dirty="0">
                <a:solidFill>
                  <a:srgbClr val="0070F2"/>
                </a:solidFill>
                <a:latin typeface="72 Brand"/>
                <a:ea typeface="72 Brand" pitchFamily="34" charset="-128"/>
                <a:cs typeface="72 Brand" pitchFamily="34" charset="-128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55D51-6460-DE43-8265-6F545D536D1E}"/>
              </a:ext>
            </a:extLst>
          </p:cNvPr>
          <p:cNvSpPr txBox="1"/>
          <p:nvPr/>
        </p:nvSpPr>
        <p:spPr>
          <a:xfrm>
            <a:off x="507293" y="4223571"/>
            <a:ext cx="519395" cy="3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088122"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998" b="1" kern="0" dirty="0">
                <a:solidFill>
                  <a:srgbClr val="0070F2"/>
                </a:solidFill>
                <a:latin typeface="72 Brand"/>
                <a:ea typeface="72 Brand" pitchFamily="34" charset="-128"/>
                <a:cs typeface="72 Brand" pitchFamily="34" charset="-128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EE9CF-15E2-731E-7548-D5D492A7F33B}"/>
              </a:ext>
            </a:extLst>
          </p:cNvPr>
          <p:cNvSpPr txBox="1"/>
          <p:nvPr/>
        </p:nvSpPr>
        <p:spPr>
          <a:xfrm>
            <a:off x="7637811" y="1634991"/>
            <a:ext cx="519395" cy="3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088122"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998" b="1" kern="0" dirty="0">
                <a:solidFill>
                  <a:srgbClr val="0070F2"/>
                </a:solidFill>
                <a:latin typeface="72 Brand"/>
                <a:ea typeface="72 Brand" pitchFamily="34" charset="-128"/>
                <a:cs typeface="72 Brand" pitchFamily="34" charset="-128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5819B-0DD8-7DE1-42FD-B7574565CE43}"/>
              </a:ext>
            </a:extLst>
          </p:cNvPr>
          <p:cNvSpPr txBox="1"/>
          <p:nvPr/>
        </p:nvSpPr>
        <p:spPr>
          <a:xfrm>
            <a:off x="1231107" y="4316316"/>
            <a:ext cx="3420364" cy="11846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>
              <a:spcAft>
                <a:spcPts val="600"/>
              </a:spcAft>
              <a:buClr>
                <a:srgbClr val="F0AB00"/>
              </a:buClr>
              <a:buSzPct val="80000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 Medium"/>
                <a:ea typeface="Arial Unicode MS"/>
              </a:rPr>
              <a:t>SAP Business Technology Platform</a:t>
            </a: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2"/>
              </a:rPr>
              <a:t>SAP BTP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3"/>
              </a:rPr>
              <a:t>SAP BTP Guidance Framework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4"/>
              </a:rPr>
              <a:t>SAP Build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5"/>
              </a:rPr>
              <a:t>SAP Build Code</a:t>
            </a: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</a:rPr>
              <a:t> and </a:t>
            </a: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16"/>
              </a:rPr>
              <a:t>Product Updates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0FDC5-724C-C16C-87E2-6F8578A552FC}"/>
              </a:ext>
            </a:extLst>
          </p:cNvPr>
          <p:cNvSpPr txBox="1"/>
          <p:nvPr/>
        </p:nvSpPr>
        <p:spPr>
          <a:xfrm>
            <a:off x="8307438" y="1745507"/>
            <a:ext cx="3513931" cy="22923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>
              <a:spcAft>
                <a:spcPts val="600"/>
              </a:spcAft>
              <a:buClr>
                <a:srgbClr val="F0AB00"/>
              </a:buClr>
              <a:buSzPct val="80000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 Medium"/>
                <a:ea typeface="Arial Unicode MS" pitchFamily="34" charset="-128"/>
                <a:cs typeface="72" panose="020B0503030000000003" pitchFamily="34" charset="0"/>
              </a:rPr>
              <a:t>Clean Core Extensibility</a:t>
            </a: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B0F0"/>
                </a:solidFill>
                <a:latin typeface="72 Brand"/>
                <a:cs typeface="72" panose="020B0503030000000003" pitchFamily="34" charset="0"/>
                <a:hlinkClick r:id="rId17"/>
              </a:rPr>
              <a:t>SAP BTP Extension Architecture Guide</a:t>
            </a: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B0F0"/>
                </a:solidFill>
                <a:latin typeface="72 Brand"/>
                <a:cs typeface="72" panose="020B0503030000000003" pitchFamily="34" charset="0"/>
                <a:hlinkClick r:id="rId18"/>
              </a:rPr>
              <a:t>SAPUI5 flexibility</a:t>
            </a: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33333"/>
                </a:solidFill>
                <a:latin typeface="72 Brand" panose="020B0504030603020204" pitchFamily="34" charset="0"/>
                <a:hlinkClick r:id="rId19"/>
              </a:rPr>
              <a:t>Extension project vs. Adaptation project</a:t>
            </a:r>
            <a:r>
              <a:rPr lang="en-US" sz="1600" kern="0" dirty="0">
                <a:solidFill>
                  <a:srgbClr val="000000"/>
                </a:solidFill>
                <a:latin typeface="72 Brand Medium"/>
                <a:ea typeface="Arial Unicode MS" pitchFamily="34" charset="-128"/>
                <a:cs typeface="72" panose="020B0503030000000003" pitchFamily="34" charset="0"/>
              </a:rPr>
              <a:t> </a:t>
            </a: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B0F0"/>
                </a:solidFill>
                <a:latin typeface="72 Brand"/>
                <a:cs typeface="72" panose="020B0503030000000003" pitchFamily="34" charset="0"/>
                <a:hlinkClick r:id="rId20"/>
              </a:rPr>
              <a:t>Key User Adaptation Tutorial</a:t>
            </a: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B0F0"/>
                </a:solidFill>
                <a:latin typeface="72 Brand"/>
                <a:cs typeface="72" panose="020B0503030000000003" pitchFamily="34" charset="0"/>
                <a:hlinkClick r:id="rId21"/>
              </a:rPr>
              <a:t>Easy Key User Adaptation</a:t>
            </a: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  <a:hlinkClick r:id="" action="ppaction://noaction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B0F0"/>
                </a:solidFill>
                <a:latin typeface="72 Brand"/>
                <a:cs typeface="72" panose="020B0503030000000003" pitchFamily="34" charset="0"/>
                <a:hlinkClick r:id="" action="ppaction://noaction"/>
              </a:rPr>
              <a:t>Developer Adaptation Tutorial</a:t>
            </a: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  <a:p>
            <a:pPr defTabSz="1088449">
              <a:buClr>
                <a:srgbClr val="000000"/>
              </a:buClr>
              <a:defRPr/>
            </a:pPr>
            <a:endParaRPr lang="en-US" sz="1400" kern="0" dirty="0">
              <a:solidFill>
                <a:srgbClr val="0070F2"/>
              </a:solidFill>
              <a:latin typeface="72 Brand"/>
              <a:ea typeface="Arial Unicode MS" pitchFamily="34" charset="-128"/>
              <a:cs typeface="72" panose="020B0503030000000003" pitchFamily="34" charset="0"/>
            </a:endParaRPr>
          </a:p>
          <a:p>
            <a:pPr marL="179892" lvl="1" indent="-179892" defTabSz="1088122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B0F0"/>
              </a:solidFill>
              <a:latin typeface="72 Brand"/>
              <a:cs typeface="72" panose="020B0503030000000003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04738A9-3C4B-720B-8E59-4F8F155E8A8E}"/>
              </a:ext>
            </a:extLst>
          </p:cNvPr>
          <p:cNvSpPr txBox="1">
            <a:spLocks/>
          </p:cNvSpPr>
          <p:nvPr/>
        </p:nvSpPr>
        <p:spPr bwMode="black">
          <a:xfrm>
            <a:off x="5313471" y="2357168"/>
            <a:ext cx="3887670" cy="4357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87579" fontAlgn="base">
              <a:spcBef>
                <a:spcPts val="0"/>
              </a:spcBef>
              <a:spcAft>
                <a:spcPct val="0"/>
              </a:spcAft>
              <a:buClr>
                <a:srgbClr val="F0AB00"/>
              </a:buClr>
              <a:defRPr/>
            </a:pPr>
            <a:endParaRPr lang="en-US" sz="1600" dirty="0">
              <a:solidFill>
                <a:srgbClr val="000000"/>
              </a:solidFill>
              <a:latin typeface="72 Brand" panose="020B0504030603020204" pitchFamily="34" charset="0"/>
              <a:cs typeface="72" panose="020B0503030000000003" pitchFamily="34" charset="0"/>
              <a:hlinkClick r:id="" action="ppaction://noaction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AAC689-544C-9337-564C-F6778C6D204B}"/>
              </a:ext>
            </a:extLst>
          </p:cNvPr>
          <p:cNvCxnSpPr>
            <a:cxnSpLocks/>
          </p:cNvCxnSpPr>
          <p:nvPr/>
        </p:nvCxnSpPr>
        <p:spPr>
          <a:xfrm>
            <a:off x="7637809" y="4521013"/>
            <a:ext cx="519397" cy="0"/>
          </a:xfrm>
          <a:prstGeom prst="line">
            <a:avLst/>
          </a:prstGeom>
          <a:ln w="19050">
            <a:solidFill>
              <a:srgbClr val="0070F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208208-CC19-ED35-E2E6-7DCB142E36E0}"/>
              </a:ext>
            </a:extLst>
          </p:cNvPr>
          <p:cNvSpPr txBox="1"/>
          <p:nvPr/>
        </p:nvSpPr>
        <p:spPr>
          <a:xfrm>
            <a:off x="7637810" y="4223571"/>
            <a:ext cx="519395" cy="3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088122" fontAlgn="base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998" b="1" kern="0" dirty="0">
                <a:solidFill>
                  <a:srgbClr val="0070F2"/>
                </a:solidFill>
                <a:latin typeface="72 Brand"/>
                <a:ea typeface="72 Brand" pitchFamily="34" charset="-128"/>
                <a:cs typeface="72 Brand" pitchFamily="34" charset="-128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30A56-159A-4C52-4134-9529194B2494}"/>
              </a:ext>
            </a:extLst>
          </p:cNvPr>
          <p:cNvSpPr txBox="1"/>
          <p:nvPr/>
        </p:nvSpPr>
        <p:spPr>
          <a:xfrm>
            <a:off x="8307439" y="4316316"/>
            <a:ext cx="3420364" cy="5384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>
              <a:spcAft>
                <a:spcPts val="600"/>
              </a:spcAft>
              <a:buClr>
                <a:srgbClr val="F0AB00"/>
              </a:buClr>
              <a:buSzPct val="80000"/>
              <a:defRPr/>
            </a:pPr>
            <a:r>
              <a:rPr lang="en-US" sz="1600" kern="0" dirty="0">
                <a:solidFill>
                  <a:srgbClr val="000000"/>
                </a:solidFill>
                <a:latin typeface="72 Brand Medium"/>
                <a:ea typeface="Arial Unicode MS"/>
              </a:rPr>
              <a:t>SAP TechEd</a:t>
            </a:r>
          </a:p>
          <a:p>
            <a:pPr marL="0" lvl="1" defTabSz="1088122">
              <a:buClr>
                <a:srgbClr val="000000"/>
              </a:buClr>
              <a:buSzPct val="100000"/>
              <a:defRPr/>
            </a:pPr>
            <a:r>
              <a:rPr lang="en-US" sz="1400" kern="0" dirty="0">
                <a:solidFill>
                  <a:srgbClr val="0070F2"/>
                </a:solidFill>
                <a:latin typeface="72 Brand"/>
                <a:ea typeface="Arial Unicode MS"/>
                <a:cs typeface="72" panose="020B0503030000000003" pitchFamily="34" charset="0"/>
                <a:hlinkClick r:id="rId22"/>
              </a:rPr>
              <a:t>AD106v | The art and science of SAPUI5</a:t>
            </a:r>
            <a:endParaRPr lang="en-US" sz="1400" kern="0" dirty="0">
              <a:solidFill>
                <a:srgbClr val="0070F2"/>
              </a:solidFill>
              <a:latin typeface="72 Brand"/>
              <a:ea typeface="Arial Unicode MS"/>
              <a:cs typeface="72" panose="020B05030300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6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EB3CFB-24CB-3230-3A92-D14B45F4A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079" y="1208309"/>
            <a:ext cx="6212340" cy="1007559"/>
          </a:xfrm>
        </p:spPr>
        <p:txBody>
          <a:bodyPr/>
          <a:lstStyle/>
          <a:p>
            <a:r>
              <a:rPr lang="en-US" dirty="0" err="1"/>
              <a:t>tommy.vinh.lam@sap.com</a:t>
            </a:r>
            <a:endParaRPr lang="en-US" dirty="0"/>
          </a:p>
          <a:p>
            <a:r>
              <a:rPr lang="en-US" dirty="0" err="1"/>
              <a:t>christian.voshage@sap.com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DC0E83F-1F6C-E583-CB38-CA018FE8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288965598"/>
      </p:ext>
    </p:extLst>
  </p:cSld>
  <p:clrMapOvr>
    <a:masterClrMapping/>
  </p:clrMapOvr>
</p:sld>
</file>

<file path=ppt/theme/theme1.xml><?xml version="1.0" encoding="utf-8"?>
<a:theme xmlns:a="http://schemas.openxmlformats.org/drawingml/2006/main" name="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e26d32-4b9a-4442-a06d-1b3b9fef35d2">
      <Terms xmlns="http://schemas.microsoft.com/office/infopath/2007/PartnerControls"/>
    </lcf76f155ced4ddcb4097134ff3c332f>
    <TaxCatchAll xmlns="94085d37-dc5b-4c58-a313-508c2321ad0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1401E68100AF4E92CE105866F279B9" ma:contentTypeVersion="19" ma:contentTypeDescription="Ein neues Dokument erstellen." ma:contentTypeScope="" ma:versionID="abc07be8ff289268f93545dc11c25625">
  <xsd:schema xmlns:xsd="http://www.w3.org/2001/XMLSchema" xmlns:xs="http://www.w3.org/2001/XMLSchema" xmlns:p="http://schemas.microsoft.com/office/2006/metadata/properties" xmlns:ns2="5ee26d32-4b9a-4442-a06d-1b3b9fef35d2" xmlns:ns3="94085d37-dc5b-4c58-a313-508c2321ad0a" targetNamespace="http://schemas.microsoft.com/office/2006/metadata/properties" ma:root="true" ma:fieldsID="d7d6660ebebbb2a10620aeba0b16e294" ns2:_="" ns3:_="">
    <xsd:import namespace="5ee26d32-4b9a-4442-a06d-1b3b9fef35d2"/>
    <xsd:import namespace="94085d37-dc5b-4c58-a313-508c2321a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26d32-4b9a-4442-a06d-1b3b9fef3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b53bab62-43ea-43ac-8274-592983e83c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85d37-dc5b-4c58-a313-508c2321ad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d4f28ee-678e-4063-b5c2-75c5bcbd93c6}" ma:internalName="TaxCatchAll" ma:showField="CatchAllData" ma:web="94085d37-dc5b-4c58-a313-508c2321a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6E6B5D-6D2C-4B09-818D-DF60791AE245}">
  <ds:schemaRefs>
    <ds:schemaRef ds:uri="5ee26d32-4b9a-4442-a06d-1b3b9fef35d2"/>
    <ds:schemaRef ds:uri="94085d37-dc5b-4c58-a313-508c2321ad0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3C4E7CF-6A63-4A42-A5F5-7BAD31E704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26d32-4b9a-4442-a06d-1b3b9fef35d2"/>
    <ds:schemaRef ds:uri="94085d37-dc5b-4c58-a313-508c2321a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AF94F4-AF87-4343-9CAF-C230695FBFC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Macintosh PowerPoint</Application>
  <PresentationFormat>Breitbild</PresentationFormat>
  <Paragraphs>154</Paragraphs>
  <Slides>12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4" baseType="lpstr">
      <vt:lpstr>72 Brand</vt:lpstr>
      <vt:lpstr>72 Brand Book</vt:lpstr>
      <vt:lpstr>72 Brand Light</vt:lpstr>
      <vt:lpstr>72 Brand Medium</vt:lpstr>
      <vt:lpstr>Aptos</vt:lpstr>
      <vt:lpstr>Arial</vt:lpstr>
      <vt:lpstr>Arial Black</vt:lpstr>
      <vt:lpstr>Arial Unicode MS</vt:lpstr>
      <vt:lpstr>Consolas</vt:lpstr>
      <vt:lpstr>Symbol</vt:lpstr>
      <vt:lpstr>Wingdings</vt:lpstr>
      <vt:lpstr>DSAG-Technologietage 2024</vt:lpstr>
      <vt:lpstr>AD166 Taking UI to the next level: Develop SAPUI5 with SAP Build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The Art and Science of SAPUI5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Hofmann</dc:creator>
  <cp:lastModifiedBy>Lam, Tommy Vinh</cp:lastModifiedBy>
  <cp:revision>23</cp:revision>
  <dcterms:created xsi:type="dcterms:W3CDTF">2024-11-25T09:37:59Z</dcterms:created>
  <dcterms:modified xsi:type="dcterms:W3CDTF">2026-03-19T07:43:25Z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0x010100571401E68100AF4E92CE105866F279B9</vt:lpwstr>
  </property>
  <property fmtid="{D5CDD505-2E9C-101B-9397-08002B2CF9AE}" pid="3" name="MediaServiceImageTags">
    <vt:lpwstr/>
  </property>
</Properties>
</file>